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70" r:id="rId10"/>
    <p:sldId id="267" r:id="rId11"/>
    <p:sldId id="269" r:id="rId12"/>
  </p:sldIdLst>
  <p:sldSz cx="14630400" cy="8229600"/>
  <p:notesSz cx="8229600" cy="14630400"/>
  <p:embeddedFontLst>
    <p:embeddedFont>
      <p:font typeface="Instrument Sans Medium" panose="02010600030101010101" charset="0"/>
      <p:regular r:id="rId14"/>
    </p:embeddedFont>
    <p:embeddedFont>
      <p:font typeface="Instrument Sans Semi Bold" panose="02010600030101010101" charset="0"/>
      <p:regular r:id="rId15"/>
    </p:embeddedFont>
    <p:embeddedFont>
      <p:font typeface="等线" panose="02010600030101010101" pitchFamily="2" charset="-122"/>
      <p:regular r:id="rId16"/>
      <p:bold r:id="rId17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054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7556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D0ED9-7D0C-A77D-C054-99A5752C2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2577B0-1A97-E3D2-690C-6E2AEFCE2B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9F5DA8-CE32-0165-B240-D91D27FC01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65455A-B4D1-33F6-DD4B-B1D7544CEF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0375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79846" y="2515672"/>
            <a:ext cx="5670590" cy="78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54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Cyborg's Pen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93790" y="3802243"/>
            <a:ext cx="13042821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26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Quantifying the Emotional Gap and Stylistic Divergence in Human vs. AI Narratives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5614035" y="523061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26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Tianji Zhou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5525095" y="5850855"/>
            <a:ext cx="3580209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University of Maryland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614035" y="626265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zhou0805@umd.edu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97914"/>
            <a:ext cx="733329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Introduction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9615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From Tool to Co-Creator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13105" y="303835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850"/>
              </a:lnSpc>
              <a:buSzPct val="100000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Generative AI has evolved from a passive tool to an active co-creator, challenging notions of authorship 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84641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Core Problem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3105" y="4393724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  <a:buSzPct val="100000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While LLMs excel at syntactic construction, they mimic emotional markers without genuine lived experience.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38027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RLHF &amp; Homogenization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13104" y="5927590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  <a:buSzPct val="100000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Reinforcement Learning from Human Feedback (RLHF) optimizes quality but may </a:t>
            </a:r>
            <a:r>
              <a:rPr lang="en-US" sz="1750" b="1" dirty="0">
                <a:solidFill>
                  <a:schemeClr val="bg2">
                    <a:lumMod val="10000"/>
                  </a:schemeClr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flatten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narrative complexity, raising questions about authorship.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86820"/>
            <a:ext cx="925365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Literature Review &amp; Research Gaps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2331128"/>
            <a:ext cx="3516954" cy="362903"/>
          </a:xfrm>
          <a:prstGeom prst="rect">
            <a:avLst/>
          </a:prstGeom>
          <a:solidFill>
            <a:srgbClr val="505468"/>
          </a:solidFill>
          <a:ln/>
        </p:spPr>
        <p:txBody>
          <a:bodyPr wrap="none" lIns="0" tIns="0" rIns="0" bIns="0" rtlCol="0" anchor="t"/>
          <a:lstStyle/>
          <a:p>
            <a:pPr algn="ctr">
              <a:lnSpc>
                <a:spcPts val="2850"/>
              </a:lnSpc>
              <a:buSzPct val="100000"/>
            </a:pPr>
            <a:r>
              <a:rPr lang="en-US" sz="1750" b="1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Theory and Practice Gap</a:t>
            </a:r>
            <a:endParaRPr lang="en-US" sz="175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89" y="4491376"/>
            <a:ext cx="2995484" cy="290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6A302AA-9B9B-68D3-BDB8-542C0B453B0C}"/>
              </a:ext>
            </a:extLst>
          </p:cNvPr>
          <p:cNvSpPr txBox="1"/>
          <p:nvPr/>
        </p:nvSpPr>
        <p:spPr>
          <a:xfrm>
            <a:off x="793788" y="2806041"/>
            <a:ext cx="3516955" cy="2167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850"/>
              </a:lnSpc>
              <a:buSzPct val="100000"/>
            </a:pPr>
            <a:r>
              <a:rPr lang="en-US" altLang="zh-CN" sz="16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Current Status: </a:t>
            </a:r>
          </a:p>
          <a:p>
            <a:pPr algn="ctr">
              <a:lnSpc>
                <a:spcPts val="2850"/>
              </a:lnSpc>
              <a:buSzPct val="100000"/>
            </a:pPr>
            <a:r>
              <a:rPr lang="en-US" altLang="zh-CN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AI alignment causes "homogenization" and a "safe convergence" of content, but these insights remain largely qualitative or survey-based.</a:t>
            </a:r>
            <a:endParaRPr lang="en-US" altLang="zh-CN" sz="1400" dirty="0"/>
          </a:p>
          <a:p>
            <a:pPr algn="ctr"/>
            <a:endParaRPr lang="zh-CN" altLang="en-US" sz="14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CDBA47E-94C4-F95F-FC37-1AB27568C820}"/>
              </a:ext>
            </a:extLst>
          </p:cNvPr>
          <p:cNvSpPr txBox="1"/>
          <p:nvPr/>
        </p:nvSpPr>
        <p:spPr>
          <a:xfrm>
            <a:off x="793787" y="5722004"/>
            <a:ext cx="3516955" cy="1903021"/>
          </a:xfrm>
          <a:prstGeom prst="rect">
            <a:avLst/>
          </a:prstGeom>
          <a:noFill/>
          <a:ln>
            <a:solidFill>
              <a:srgbClr val="505468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2850"/>
              </a:lnSpc>
              <a:buSzPct val="100000"/>
              <a:defRPr sz="1600" b="1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defRPr>
            </a:lvl1pPr>
          </a:lstStyle>
          <a:p>
            <a:r>
              <a:rPr lang="en-US" altLang="zh-CN" sz="1400" b="0" dirty="0"/>
              <a:t>O</a:t>
            </a:r>
            <a:r>
              <a:rPr lang="zh-CN" altLang="en-US" sz="1400" b="0" dirty="0"/>
              <a:t>perationalize the "safe convergence" into a quantifiable metric: </a:t>
            </a:r>
            <a:endParaRPr lang="en-US" altLang="zh-CN" sz="1400" b="0" dirty="0"/>
          </a:p>
          <a:p>
            <a:r>
              <a:rPr lang="zh-CN" altLang="en-US" sz="1400" b="0" dirty="0"/>
              <a:t>"Emotional Numbness“</a:t>
            </a:r>
            <a:endParaRPr lang="en-US" altLang="zh-CN" sz="1400" b="0" dirty="0"/>
          </a:p>
          <a:p>
            <a:r>
              <a:rPr lang="en-US" altLang="zh-CN" sz="1400" b="0" dirty="0"/>
              <a:t>(</a:t>
            </a:r>
            <a:r>
              <a:rPr lang="zh-CN" altLang="en-US" sz="1400" b="0" dirty="0"/>
              <a:t>reduction in variance that distinguishes</a:t>
            </a:r>
          </a:p>
          <a:p>
            <a:r>
              <a:rPr lang="zh-CN" altLang="en-US" sz="1400" b="0" dirty="0"/>
              <a:t>machine output from human creativity</a:t>
            </a:r>
            <a:r>
              <a:rPr lang="en-US" altLang="zh-CN" sz="1400" b="0" dirty="0"/>
              <a:t>)</a:t>
            </a:r>
            <a:r>
              <a:rPr lang="zh-CN" altLang="en-US" sz="1400" b="0" dirty="0"/>
              <a:t>.</a:t>
            </a:r>
          </a:p>
        </p:txBody>
      </p:sp>
      <p:sp>
        <p:nvSpPr>
          <p:cNvPr id="12" name="箭头: 下 11">
            <a:extLst>
              <a:ext uri="{FF2B5EF4-FFF2-40B4-BE49-F238E27FC236}">
                <a16:creationId xmlns:a16="http://schemas.microsoft.com/office/drawing/2014/main" id="{1860C87D-63F8-DD7D-4BB9-67CE70AF2172}"/>
              </a:ext>
            </a:extLst>
          </p:cNvPr>
          <p:cNvSpPr/>
          <p:nvPr/>
        </p:nvSpPr>
        <p:spPr>
          <a:xfrm>
            <a:off x="1988456" y="4973301"/>
            <a:ext cx="1110343" cy="500742"/>
          </a:xfrm>
          <a:prstGeom prst="downArrow">
            <a:avLst/>
          </a:prstGeom>
          <a:solidFill>
            <a:srgbClr val="5054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AA23728A-F9F4-B482-B3AE-A5B2AAF009C4}"/>
              </a:ext>
            </a:extLst>
          </p:cNvPr>
          <p:cNvSpPr/>
          <p:nvPr/>
        </p:nvSpPr>
        <p:spPr>
          <a:xfrm>
            <a:off x="5361291" y="2331128"/>
            <a:ext cx="3516954" cy="362903"/>
          </a:xfrm>
          <a:prstGeom prst="rect">
            <a:avLst/>
          </a:prstGeom>
          <a:solidFill>
            <a:srgbClr val="505468"/>
          </a:solidFill>
          <a:ln/>
        </p:spPr>
        <p:txBody>
          <a:bodyPr wrap="none" lIns="0" tIns="0" rIns="0" bIns="0" rtlCol="0" anchor="t"/>
          <a:lstStyle/>
          <a:p>
            <a:pPr algn="ctr">
              <a:lnSpc>
                <a:spcPts val="2850"/>
              </a:lnSpc>
              <a:buSzPct val="100000"/>
            </a:pPr>
            <a:r>
              <a:rPr lang="en-US" sz="1750" b="1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Research Area</a:t>
            </a:r>
            <a:r>
              <a:rPr lang="zh-CN" altLang="en-US" sz="1750" b="1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‘</a:t>
            </a:r>
            <a:r>
              <a:rPr lang="en-US" altLang="zh-CN" sz="1750" b="1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 Gap</a:t>
            </a:r>
            <a:endParaRPr lang="en-US" sz="1750" dirty="0">
              <a:solidFill>
                <a:schemeClr val="bg1"/>
              </a:solidFill>
            </a:endParaRPr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F4A4954C-5499-90C6-1BA1-AD281A1D8B5E}"/>
              </a:ext>
            </a:extLst>
          </p:cNvPr>
          <p:cNvSpPr/>
          <p:nvPr/>
        </p:nvSpPr>
        <p:spPr>
          <a:xfrm>
            <a:off x="5361290" y="4491376"/>
            <a:ext cx="2995484" cy="290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19FDBE0-82D3-8F59-5E5B-112B06611A1E}"/>
              </a:ext>
            </a:extLst>
          </p:cNvPr>
          <p:cNvSpPr txBox="1"/>
          <p:nvPr/>
        </p:nvSpPr>
        <p:spPr>
          <a:xfrm>
            <a:off x="5361289" y="2806041"/>
            <a:ext cx="3516955" cy="1905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850"/>
              </a:lnSpc>
              <a:buSzPct val="100000"/>
            </a:pPr>
            <a:r>
              <a:rPr lang="en-US" altLang="zh-CN" sz="16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Current Status: </a:t>
            </a:r>
          </a:p>
          <a:p>
            <a:pPr algn="ctr">
              <a:lnSpc>
                <a:spcPts val="2850"/>
              </a:lnSpc>
              <a:buSzPct val="100000"/>
            </a:pPr>
            <a:r>
              <a:rPr lang="en-US" altLang="zh-CN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Existing detection benchmarks predominantly evaluate factual texts (news, academic papers) or rely on outdated models like GPT-2/3.</a:t>
            </a:r>
            <a:endParaRPr lang="zh-CN" altLang="en-US" sz="14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5FB2112-4E95-CFFD-750B-21F25ED18EB8}"/>
              </a:ext>
            </a:extLst>
          </p:cNvPr>
          <p:cNvSpPr txBox="1"/>
          <p:nvPr/>
        </p:nvSpPr>
        <p:spPr>
          <a:xfrm>
            <a:off x="5208888" y="5722005"/>
            <a:ext cx="3821756" cy="1903021"/>
          </a:xfrm>
          <a:prstGeom prst="rect">
            <a:avLst/>
          </a:prstGeom>
          <a:noFill/>
          <a:ln>
            <a:solidFill>
              <a:srgbClr val="505468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2850"/>
              </a:lnSpc>
              <a:buSzPct val="100000"/>
              <a:defRPr sz="1400" b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The research focuses on narrative texts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Stress-tests SOTA models to determine whether they have eliminated the stylistic features present in outdated models.</a:t>
            </a:r>
            <a:endParaRPr lang="zh-CN" altLang="en-US" dirty="0"/>
          </a:p>
        </p:txBody>
      </p:sp>
      <p:sp>
        <p:nvSpPr>
          <p:cNvPr id="17" name="箭头: 下 16">
            <a:extLst>
              <a:ext uri="{FF2B5EF4-FFF2-40B4-BE49-F238E27FC236}">
                <a16:creationId xmlns:a16="http://schemas.microsoft.com/office/drawing/2014/main" id="{17B83D64-0BC4-1C92-335F-F343FEBA3496}"/>
              </a:ext>
            </a:extLst>
          </p:cNvPr>
          <p:cNvSpPr/>
          <p:nvPr/>
        </p:nvSpPr>
        <p:spPr>
          <a:xfrm>
            <a:off x="6555957" y="4973301"/>
            <a:ext cx="1110343" cy="500742"/>
          </a:xfrm>
          <a:prstGeom prst="downArrow">
            <a:avLst/>
          </a:prstGeom>
          <a:solidFill>
            <a:srgbClr val="5054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E34FAA03-4150-05A1-37BF-50A6C0D37B75}"/>
              </a:ext>
            </a:extLst>
          </p:cNvPr>
          <p:cNvSpPr/>
          <p:nvPr/>
        </p:nvSpPr>
        <p:spPr>
          <a:xfrm>
            <a:off x="10191790" y="2331128"/>
            <a:ext cx="3516954" cy="362903"/>
          </a:xfrm>
          <a:prstGeom prst="rect">
            <a:avLst/>
          </a:prstGeom>
          <a:solidFill>
            <a:srgbClr val="505468"/>
          </a:solidFill>
          <a:ln/>
        </p:spPr>
        <p:txBody>
          <a:bodyPr wrap="none" lIns="0" tIns="0" rIns="0" bIns="0" rtlCol="0" anchor="t"/>
          <a:lstStyle/>
          <a:p>
            <a:pPr algn="ctr">
              <a:lnSpc>
                <a:spcPts val="2850"/>
              </a:lnSpc>
              <a:buSzPct val="100000"/>
            </a:pPr>
            <a:r>
              <a:rPr lang="en-US" altLang="zh-CN" sz="1750" b="1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</a:t>
            </a:r>
            <a:r>
              <a:rPr lang="en-US" sz="1750" b="1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ethodological Gap</a:t>
            </a:r>
            <a:endParaRPr lang="en-US" sz="1750" dirty="0">
              <a:solidFill>
                <a:schemeClr val="bg1"/>
              </a:solidFill>
            </a:endParaRPr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AEAD5233-EB70-1BA7-BF7E-9B443F62277E}"/>
              </a:ext>
            </a:extLst>
          </p:cNvPr>
          <p:cNvSpPr/>
          <p:nvPr/>
        </p:nvSpPr>
        <p:spPr>
          <a:xfrm>
            <a:off x="10191789" y="4491376"/>
            <a:ext cx="2995484" cy="290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F1900A5-6584-6248-16BA-4B585A3A70E3}"/>
              </a:ext>
            </a:extLst>
          </p:cNvPr>
          <p:cNvSpPr txBox="1"/>
          <p:nvPr/>
        </p:nvSpPr>
        <p:spPr>
          <a:xfrm>
            <a:off x="10127852" y="2806041"/>
            <a:ext cx="3644823" cy="1905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850"/>
              </a:lnSpc>
              <a:buSzPct val="100000"/>
            </a:pPr>
            <a:r>
              <a:rPr lang="en-US" altLang="zh-CN" sz="16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Current Status: </a:t>
            </a:r>
          </a:p>
          <a:p>
            <a:pPr algn="ctr">
              <a:lnSpc>
                <a:spcPts val="2850"/>
              </a:lnSpc>
              <a:buSzPct val="100000"/>
            </a:pPr>
            <a:r>
              <a:rPr lang="en-US" altLang="zh-CN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Research struggles to explain why traditional statistical detectors fail when SOTA models master lexical mimicry and deceive detection tools.</a:t>
            </a:r>
            <a:endParaRPr lang="zh-CN" altLang="en-US" sz="14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D87FFAD-932B-115F-0EE3-C914A4D45D4D}"/>
              </a:ext>
            </a:extLst>
          </p:cNvPr>
          <p:cNvSpPr txBox="1"/>
          <p:nvPr/>
        </p:nvSpPr>
        <p:spPr>
          <a:xfrm>
            <a:off x="10191787" y="5704032"/>
            <a:ext cx="3516955" cy="1903021"/>
          </a:xfrm>
          <a:prstGeom prst="rect">
            <a:avLst/>
          </a:prstGeom>
          <a:noFill/>
          <a:ln>
            <a:solidFill>
              <a:srgbClr val="505468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285750" indent="-285750" algn="ctr">
              <a:lnSpc>
                <a:spcPts val="2850"/>
              </a:lnSpc>
              <a:buSzPct val="100000"/>
              <a:buFont typeface="Arial" panose="020B0604020202020204" pitchFamily="34" charset="0"/>
              <a:buChar char="•"/>
              <a:defRPr sz="1400" b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defRPr>
            </a:lvl1pPr>
          </a:lstStyle>
          <a:p>
            <a:pPr marL="0" indent="0">
              <a:buNone/>
            </a:pPr>
            <a:r>
              <a:rPr lang="en-US" altLang="zh-CN" dirty="0"/>
              <a:t>We benchmarked lexical methods against </a:t>
            </a:r>
            <a:r>
              <a:rPr lang="en-US" altLang="zh-CN" dirty="0" err="1"/>
              <a:t>DistilBERT</a:t>
            </a:r>
            <a:r>
              <a:rPr lang="en-US" altLang="zh-CN" dirty="0"/>
              <a:t> to reveal "evasion mechanisms" and detect the observable "emotional rigidity" imposed by alignment protocols.</a:t>
            </a:r>
            <a:endParaRPr lang="zh-CN" altLang="en-US" dirty="0"/>
          </a:p>
        </p:txBody>
      </p:sp>
      <p:sp>
        <p:nvSpPr>
          <p:cNvPr id="22" name="箭头: 下 21">
            <a:extLst>
              <a:ext uri="{FF2B5EF4-FFF2-40B4-BE49-F238E27FC236}">
                <a16:creationId xmlns:a16="http://schemas.microsoft.com/office/drawing/2014/main" id="{6F46B015-3734-ACAF-78A1-365120DE3C03}"/>
              </a:ext>
            </a:extLst>
          </p:cNvPr>
          <p:cNvSpPr/>
          <p:nvPr/>
        </p:nvSpPr>
        <p:spPr>
          <a:xfrm>
            <a:off x="11386456" y="4973301"/>
            <a:ext cx="1110343" cy="500742"/>
          </a:xfrm>
          <a:prstGeom prst="downArrow">
            <a:avLst/>
          </a:prstGeom>
          <a:solidFill>
            <a:srgbClr val="5054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09122"/>
            <a:ext cx="79592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Research Questions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1" y="2703144"/>
            <a:ext cx="4063502" cy="966600"/>
          </a:xfrm>
          <a:prstGeom prst="rect">
            <a:avLst/>
          </a:prstGeom>
          <a:solidFill>
            <a:srgbClr val="505468"/>
          </a:solidFill>
          <a:ln/>
        </p:spPr>
        <p:txBody>
          <a:bodyPr wrap="none" lIns="0" tIns="0" rIns="0" bIns="0" rtlCol="0" anchor="t"/>
          <a:lstStyle/>
          <a:p>
            <a:pPr algn="ctr">
              <a:lnSpc>
                <a:spcPts val="2850"/>
              </a:lnSpc>
              <a:buSzPct val="100000"/>
            </a:pPr>
            <a:r>
              <a:rPr lang="en-US" sz="1750" b="1" dirty="0">
                <a:solidFill>
                  <a:schemeClr val="bg1"/>
                </a:solidFill>
                <a:latin typeface="Instrument Sans Medium" pitchFamily="34" charset="0"/>
              </a:rPr>
              <a:t>RQ1</a:t>
            </a:r>
          </a:p>
          <a:p>
            <a:pPr algn="ctr">
              <a:lnSpc>
                <a:spcPts val="2850"/>
              </a:lnSpc>
              <a:buSzPct val="100000"/>
            </a:pPr>
            <a:r>
              <a:rPr lang="en-US" sz="1600" b="1" dirty="0">
                <a:solidFill>
                  <a:schemeClr val="bg1"/>
                </a:solidFill>
                <a:latin typeface="Instrument Sans Medium" pitchFamily="34" charset="0"/>
              </a:rPr>
              <a:t>Linguistic Patterns </a:t>
            </a:r>
          </a:p>
        </p:txBody>
      </p:sp>
      <p:sp>
        <p:nvSpPr>
          <p:cNvPr id="4" name="Text 2"/>
          <p:cNvSpPr/>
          <p:nvPr/>
        </p:nvSpPr>
        <p:spPr>
          <a:xfrm>
            <a:off x="793790" y="3669744"/>
            <a:ext cx="4063503" cy="1909305"/>
          </a:xfrm>
          <a:prstGeom prst="rect">
            <a:avLst/>
          </a:prstGeom>
          <a:noFill/>
          <a:ln>
            <a:solidFill>
              <a:srgbClr val="505468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ts val="2850"/>
              </a:lnSpc>
              <a:buSzPct val="100000"/>
            </a:pPr>
            <a:r>
              <a:rPr lang="en-US" altLang="zh-CN" sz="1600" dirty="0">
                <a:solidFill>
                  <a:srgbClr val="5B5F71"/>
                </a:solidFill>
                <a:latin typeface="Instrument Sans Medium" pitchFamily="34" charset="0"/>
              </a:rPr>
              <a:t>What are the key quantifiable differences in lexical diversity, syntactic complexity, and emotional expression between short stories written by humans and those generated by AI?</a:t>
            </a:r>
            <a:endParaRPr lang="en-US" sz="1600" dirty="0">
              <a:solidFill>
                <a:srgbClr val="5B5F71"/>
              </a:solidFill>
              <a:latin typeface="Instrument Sans Medium" pitchFamily="34" charset="0"/>
            </a:endParaRP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9C407B07-F347-F9A1-7C43-65B34C60D9BE}"/>
              </a:ext>
            </a:extLst>
          </p:cNvPr>
          <p:cNvSpPr/>
          <p:nvPr/>
        </p:nvSpPr>
        <p:spPr>
          <a:xfrm>
            <a:off x="5283449" y="2703144"/>
            <a:ext cx="4063502" cy="966600"/>
          </a:xfrm>
          <a:prstGeom prst="rect">
            <a:avLst/>
          </a:prstGeom>
          <a:solidFill>
            <a:srgbClr val="505468"/>
          </a:solidFill>
          <a:ln/>
        </p:spPr>
        <p:txBody>
          <a:bodyPr wrap="none" lIns="0" tIns="0" rIns="0" bIns="0" rtlCol="0" anchor="t"/>
          <a:lstStyle/>
          <a:p>
            <a:pPr algn="ctr">
              <a:lnSpc>
                <a:spcPts val="2850"/>
              </a:lnSpc>
              <a:buSzPct val="100000"/>
            </a:pPr>
            <a:r>
              <a:rPr lang="en-US" altLang="zh-CN" sz="1600" b="1" dirty="0">
                <a:solidFill>
                  <a:schemeClr val="bg1"/>
                </a:solidFill>
                <a:latin typeface="Instrument Sans Medium" pitchFamily="34" charset="0"/>
              </a:rPr>
              <a:t>RQ2 </a:t>
            </a:r>
          </a:p>
          <a:p>
            <a:pPr algn="ctr">
              <a:lnSpc>
                <a:spcPts val="2850"/>
              </a:lnSpc>
              <a:buSzPct val="100000"/>
            </a:pPr>
            <a:r>
              <a:rPr lang="en-US" altLang="zh-CN" sz="1600" b="1" dirty="0">
                <a:solidFill>
                  <a:schemeClr val="bg1"/>
                </a:solidFill>
                <a:latin typeface="Instrument Sans Medium" pitchFamily="34" charset="0"/>
              </a:rPr>
              <a:t>Semantic Compliance &amp; Topic Strategy</a:t>
            </a:r>
            <a:endParaRPr lang="en-US" sz="1600" b="1" dirty="0">
              <a:solidFill>
                <a:schemeClr val="bg1"/>
              </a:solidFill>
              <a:latin typeface="Instrument Sans Medium" pitchFamily="34" charset="0"/>
            </a:endParaRPr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C9B89F2D-A828-C67F-5C60-55980715C6A4}"/>
              </a:ext>
            </a:extLst>
          </p:cNvPr>
          <p:cNvSpPr/>
          <p:nvPr/>
        </p:nvSpPr>
        <p:spPr>
          <a:xfrm>
            <a:off x="9773107" y="2703143"/>
            <a:ext cx="4063502" cy="966601"/>
          </a:xfrm>
          <a:prstGeom prst="rect">
            <a:avLst/>
          </a:prstGeom>
          <a:solidFill>
            <a:srgbClr val="505468"/>
          </a:solidFill>
          <a:ln/>
        </p:spPr>
        <p:txBody>
          <a:bodyPr wrap="none" lIns="0" tIns="0" rIns="0" bIns="0" rtlCol="0" anchor="t"/>
          <a:lstStyle/>
          <a:p>
            <a:pPr algn="ctr">
              <a:lnSpc>
                <a:spcPts val="2850"/>
              </a:lnSpc>
              <a:buSzPct val="100000"/>
            </a:pPr>
            <a:r>
              <a:rPr lang="en-US" altLang="zh-CN" sz="1750" b="1" dirty="0">
                <a:solidFill>
                  <a:schemeClr val="bg1"/>
                </a:solidFill>
                <a:latin typeface="Instrument Sans Medium" pitchFamily="34" charset="0"/>
              </a:rPr>
              <a:t>RQ3</a:t>
            </a:r>
          </a:p>
          <a:p>
            <a:pPr algn="ctr">
              <a:lnSpc>
                <a:spcPts val="2850"/>
              </a:lnSpc>
              <a:buSzPct val="100000"/>
            </a:pPr>
            <a:r>
              <a:rPr lang="en-US" altLang="zh-CN" sz="1750" b="1" dirty="0">
                <a:solidFill>
                  <a:schemeClr val="bg1"/>
                </a:solidFill>
                <a:latin typeface="Instrument Sans Medium" pitchFamily="34" charset="0"/>
              </a:rPr>
              <a:t>Detection Robustness</a:t>
            </a:r>
            <a:endParaRPr lang="en-US" sz="1750" b="1" dirty="0">
              <a:solidFill>
                <a:schemeClr val="bg1"/>
              </a:solidFill>
              <a:latin typeface="Instrument Sans Medium" pitchFamily="34" charset="0"/>
            </a:endParaRPr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1CA845C0-C880-21BD-F9E4-04D45808964D}"/>
              </a:ext>
            </a:extLst>
          </p:cNvPr>
          <p:cNvSpPr/>
          <p:nvPr/>
        </p:nvSpPr>
        <p:spPr>
          <a:xfrm>
            <a:off x="5283448" y="3669744"/>
            <a:ext cx="4063503" cy="1909305"/>
          </a:xfrm>
          <a:prstGeom prst="rect">
            <a:avLst/>
          </a:prstGeom>
          <a:noFill/>
          <a:ln>
            <a:solidFill>
              <a:srgbClr val="505468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ts val="2850"/>
              </a:lnSpc>
              <a:buSzPct val="100000"/>
            </a:pPr>
            <a:endParaRPr lang="en-US" altLang="zh-CN" sz="1600" dirty="0">
              <a:solidFill>
                <a:srgbClr val="5B5F71"/>
              </a:solidFill>
              <a:latin typeface="Instrument Sans Medium" pitchFamily="34" charset="0"/>
            </a:endParaRPr>
          </a:p>
          <a:p>
            <a:pPr algn="ctr">
              <a:lnSpc>
                <a:spcPts val="2850"/>
              </a:lnSpc>
              <a:buSzPct val="100000"/>
            </a:pPr>
            <a:r>
              <a:rPr lang="en-US" altLang="zh-CN" sz="1600" dirty="0">
                <a:solidFill>
                  <a:srgbClr val="5B5F71"/>
                </a:solidFill>
                <a:latin typeface="Instrument Sans Medium" pitchFamily="34" charset="0"/>
              </a:rPr>
              <a:t>To what extent do AI narratives follow or deviate from the semantic constraints of prompts compared to humans?</a:t>
            </a:r>
            <a:endParaRPr lang="en-US" sz="1600" dirty="0">
              <a:solidFill>
                <a:srgbClr val="5B5F71"/>
              </a:solidFill>
              <a:latin typeface="Instrument Sans Medium" pitchFamily="34" charset="0"/>
            </a:endParaRPr>
          </a:p>
          <a:p>
            <a:pPr algn="ctr">
              <a:lnSpc>
                <a:spcPts val="2850"/>
              </a:lnSpc>
              <a:buSzPct val="100000"/>
            </a:pPr>
            <a:endParaRPr lang="en-US" sz="1600" dirty="0">
              <a:solidFill>
                <a:srgbClr val="5B5F71"/>
              </a:solidFill>
              <a:latin typeface="Instrument Sans Medium" pitchFamily="34" charset="0"/>
            </a:endParaRPr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3A4F7EE4-2296-EAB5-A1FE-6D5F5432E00F}"/>
              </a:ext>
            </a:extLst>
          </p:cNvPr>
          <p:cNvSpPr/>
          <p:nvPr/>
        </p:nvSpPr>
        <p:spPr>
          <a:xfrm>
            <a:off x="9773107" y="3669744"/>
            <a:ext cx="4063503" cy="1909305"/>
          </a:xfrm>
          <a:prstGeom prst="rect">
            <a:avLst/>
          </a:prstGeom>
          <a:noFill/>
          <a:ln>
            <a:solidFill>
              <a:srgbClr val="505468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ts val="2850"/>
              </a:lnSpc>
              <a:buSzPct val="100000"/>
            </a:pPr>
            <a:r>
              <a:rPr lang="en-US" altLang="zh-CN" sz="1600" dirty="0">
                <a:solidFill>
                  <a:srgbClr val="5B5F71"/>
                </a:solidFill>
                <a:latin typeface="Instrument Sans Medium" pitchFamily="34" charset="0"/>
              </a:rPr>
              <a:t>As model complexity increases, does the</a:t>
            </a:r>
          </a:p>
          <a:p>
            <a:pPr algn="ctr">
              <a:lnSpc>
                <a:spcPts val="2850"/>
              </a:lnSpc>
              <a:buSzPct val="100000"/>
            </a:pPr>
            <a:r>
              <a:rPr lang="en-US" altLang="zh-CN" sz="1600" dirty="0">
                <a:solidFill>
                  <a:srgbClr val="5B5F71"/>
                </a:solidFill>
                <a:latin typeface="Instrument Sans Medium" pitchFamily="34" charset="0"/>
              </a:rPr>
              <a:t>style gap in generated narratives shrink? Does this indicate that AI’s ability to mimic human “flaws” is evolving?</a:t>
            </a:r>
          </a:p>
          <a:p>
            <a:pPr algn="ctr">
              <a:lnSpc>
                <a:spcPts val="2850"/>
              </a:lnSpc>
              <a:buSzPct val="100000"/>
            </a:pPr>
            <a:endParaRPr lang="en-US" sz="1600" dirty="0">
              <a:solidFill>
                <a:srgbClr val="5B5F71"/>
              </a:solidFill>
              <a:latin typeface="Instrument Sans Medium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41720"/>
            <a:ext cx="841617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Data Collection: Parallel Corpus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8155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Methodology: Paired evaluation using 2,000 identical prompts.</a:t>
            </a:r>
            <a:endParaRPr lang="en-US" sz="1750" dirty="0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DCF3A9E0-7F05-6187-F968-6E4C3281B1C7}"/>
              </a:ext>
            </a:extLst>
          </p:cNvPr>
          <p:cNvSpPr/>
          <p:nvPr/>
        </p:nvSpPr>
        <p:spPr>
          <a:xfrm>
            <a:off x="793791" y="3060191"/>
            <a:ext cx="4063502" cy="362903"/>
          </a:xfrm>
          <a:prstGeom prst="rect">
            <a:avLst/>
          </a:prstGeom>
          <a:solidFill>
            <a:srgbClr val="505468"/>
          </a:solidFill>
          <a:ln/>
        </p:spPr>
        <p:txBody>
          <a:bodyPr wrap="none" lIns="0" tIns="0" rIns="0" bIns="0" rtlCol="0" anchor="t"/>
          <a:lstStyle/>
          <a:p>
            <a:pPr algn="ctr">
              <a:lnSpc>
                <a:spcPts val="2850"/>
              </a:lnSpc>
              <a:buSzPct val="100000"/>
            </a:pPr>
            <a:r>
              <a:rPr lang="en-US" sz="1750" b="1" dirty="0">
                <a:solidFill>
                  <a:schemeClr val="bg1"/>
                </a:solidFill>
                <a:latin typeface="Instrument Sans Medium" pitchFamily="34" charset="0"/>
              </a:rPr>
              <a:t>Human Ground Truth (N=2,000)</a:t>
            </a:r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FA65B568-1837-A15A-B704-849C3DB0FEE2}"/>
              </a:ext>
            </a:extLst>
          </p:cNvPr>
          <p:cNvSpPr/>
          <p:nvPr/>
        </p:nvSpPr>
        <p:spPr>
          <a:xfrm>
            <a:off x="793790" y="3420644"/>
            <a:ext cx="4063503" cy="1165512"/>
          </a:xfrm>
          <a:prstGeom prst="rect">
            <a:avLst/>
          </a:prstGeom>
          <a:noFill/>
          <a:ln>
            <a:solidFill>
              <a:srgbClr val="505468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ts val="2850"/>
              </a:lnSpc>
              <a:buSzPct val="100000"/>
            </a:pPr>
            <a:r>
              <a:rPr lang="en-US" altLang="zh-CN" sz="16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Source: </a:t>
            </a:r>
            <a:r>
              <a:rPr lang="en-US" altLang="zh-CN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Reddit Writing Prompts from Kaggle with specific prompts</a:t>
            </a:r>
          </a:p>
          <a:p>
            <a:pPr algn="ctr">
              <a:lnSpc>
                <a:spcPts val="2850"/>
              </a:lnSpc>
              <a:buSzPct val="100000"/>
            </a:pPr>
            <a:r>
              <a:rPr lang="en-US" altLang="zh-CN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(Random sampling).</a:t>
            </a:r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149669CB-87CD-05AD-D3CE-A0D68AB7AD5D}"/>
              </a:ext>
            </a:extLst>
          </p:cNvPr>
          <p:cNvSpPr/>
          <p:nvPr/>
        </p:nvSpPr>
        <p:spPr>
          <a:xfrm>
            <a:off x="5336763" y="3060191"/>
            <a:ext cx="4063502" cy="362903"/>
          </a:xfrm>
          <a:prstGeom prst="rect">
            <a:avLst/>
          </a:prstGeom>
          <a:solidFill>
            <a:srgbClr val="505468"/>
          </a:solidFill>
          <a:ln/>
        </p:spPr>
        <p:txBody>
          <a:bodyPr wrap="none" lIns="0" tIns="0" rIns="0" bIns="0" rtlCol="0" anchor="t"/>
          <a:lstStyle/>
          <a:p>
            <a:pPr algn="ctr">
              <a:lnSpc>
                <a:spcPts val="2850"/>
              </a:lnSpc>
              <a:buSzPct val="100000"/>
            </a:pPr>
            <a:r>
              <a:rPr lang="it-IT" sz="1750" b="1" dirty="0">
                <a:solidFill>
                  <a:schemeClr val="bg1"/>
                </a:solidFill>
                <a:latin typeface="Instrument Sans Medium" pitchFamily="34" charset="0"/>
              </a:rPr>
              <a:t>Base AI Group (N=6,000)</a:t>
            </a:r>
            <a:endParaRPr lang="en-US" sz="1750" b="1" dirty="0">
              <a:solidFill>
                <a:schemeClr val="bg1"/>
              </a:solidFill>
              <a:latin typeface="Instrument Sans Medium" pitchFamily="34" charset="0"/>
            </a:endParaRPr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ADA3FB21-CBC6-9751-546C-3C1EDA0AB8DE}"/>
              </a:ext>
            </a:extLst>
          </p:cNvPr>
          <p:cNvSpPr/>
          <p:nvPr/>
        </p:nvSpPr>
        <p:spPr>
          <a:xfrm>
            <a:off x="5336762" y="3420644"/>
            <a:ext cx="4063503" cy="1165512"/>
          </a:xfrm>
          <a:prstGeom prst="rect">
            <a:avLst/>
          </a:prstGeom>
          <a:noFill/>
          <a:ln>
            <a:solidFill>
              <a:srgbClr val="505468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ts val="2850"/>
              </a:lnSpc>
              <a:buSzPct val="100000"/>
            </a:pPr>
            <a:r>
              <a:rPr lang="en-US" altLang="zh-CN" sz="16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Source: AI Generated</a:t>
            </a:r>
          </a:p>
          <a:p>
            <a:pPr algn="ctr">
              <a:lnSpc>
                <a:spcPts val="2850"/>
              </a:lnSpc>
              <a:buSzPct val="100000"/>
            </a:pPr>
            <a:r>
              <a:rPr lang="en-US" altLang="zh-CN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Models: GPT-4o-mini, Gemini 2.0 Flash, Claude 3 Haiku.</a:t>
            </a:r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EFBD5823-15A3-C9B9-36A7-F58E0C0FF6BD}"/>
              </a:ext>
            </a:extLst>
          </p:cNvPr>
          <p:cNvSpPr/>
          <p:nvPr/>
        </p:nvSpPr>
        <p:spPr>
          <a:xfrm>
            <a:off x="9879734" y="3060191"/>
            <a:ext cx="4063502" cy="362903"/>
          </a:xfrm>
          <a:prstGeom prst="rect">
            <a:avLst/>
          </a:prstGeom>
          <a:solidFill>
            <a:srgbClr val="505468"/>
          </a:solidFill>
          <a:ln/>
        </p:spPr>
        <p:txBody>
          <a:bodyPr wrap="none" lIns="0" tIns="0" rIns="0" bIns="0" rtlCol="0" anchor="t"/>
          <a:lstStyle/>
          <a:p>
            <a:pPr algn="ctr">
              <a:lnSpc>
                <a:spcPts val="2850"/>
              </a:lnSpc>
              <a:buSzPct val="100000"/>
            </a:pPr>
            <a:r>
              <a:rPr lang="it-IT" sz="1750" b="1" dirty="0">
                <a:solidFill>
                  <a:schemeClr val="bg1"/>
                </a:solidFill>
                <a:latin typeface="Instrument Sans Medium" pitchFamily="34" charset="0"/>
              </a:rPr>
              <a:t>SOTA AI Group (N=367)</a:t>
            </a:r>
            <a:endParaRPr lang="en-US" sz="1750" b="1" dirty="0">
              <a:solidFill>
                <a:schemeClr val="bg1"/>
              </a:solidFill>
              <a:latin typeface="Instrument Sans Medium" pitchFamily="34" charset="0"/>
            </a:endParaRPr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9DA4FB03-829A-4A11-8FCC-1519B158C850}"/>
              </a:ext>
            </a:extLst>
          </p:cNvPr>
          <p:cNvSpPr/>
          <p:nvPr/>
        </p:nvSpPr>
        <p:spPr>
          <a:xfrm>
            <a:off x="9879733" y="3420644"/>
            <a:ext cx="4063503" cy="1165512"/>
          </a:xfrm>
          <a:prstGeom prst="rect">
            <a:avLst/>
          </a:prstGeom>
          <a:noFill/>
          <a:ln>
            <a:solidFill>
              <a:srgbClr val="505468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ts val="2850"/>
              </a:lnSpc>
              <a:buSzPct val="100000"/>
            </a:pPr>
            <a:r>
              <a:rPr lang="en-US" altLang="zh-CN" sz="16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Source: AI Generated</a:t>
            </a:r>
          </a:p>
          <a:p>
            <a:pPr algn="ctr">
              <a:lnSpc>
                <a:spcPts val="2850"/>
              </a:lnSpc>
              <a:buSzPct val="100000"/>
            </a:pPr>
            <a:r>
              <a:rPr lang="en-US" altLang="zh-CN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Models: Claude 4.5 Sonnet (N=300), Gemini 3 Pro (N=67)</a:t>
            </a:r>
          </a:p>
        </p:txBody>
      </p:sp>
      <p:sp>
        <p:nvSpPr>
          <p:cNvPr id="16" name="箭头: 下 15">
            <a:extLst>
              <a:ext uri="{FF2B5EF4-FFF2-40B4-BE49-F238E27FC236}">
                <a16:creationId xmlns:a16="http://schemas.microsoft.com/office/drawing/2014/main" id="{0E9DEF68-8AE4-1E6E-3F1D-2E08CFF0C4B2}"/>
              </a:ext>
            </a:extLst>
          </p:cNvPr>
          <p:cNvSpPr/>
          <p:nvPr/>
        </p:nvSpPr>
        <p:spPr>
          <a:xfrm>
            <a:off x="6760028" y="4829346"/>
            <a:ext cx="1110343" cy="500742"/>
          </a:xfrm>
          <a:prstGeom prst="downArrow">
            <a:avLst/>
          </a:prstGeom>
          <a:solidFill>
            <a:srgbClr val="5054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A460930-61B0-8DA5-E0C6-5868E01845CA}"/>
              </a:ext>
            </a:extLst>
          </p:cNvPr>
          <p:cNvSpPr txBox="1"/>
          <p:nvPr/>
        </p:nvSpPr>
        <p:spPr>
          <a:xfrm>
            <a:off x="793791" y="5514796"/>
            <a:ext cx="13149445" cy="421719"/>
          </a:xfrm>
          <a:prstGeom prst="rect">
            <a:avLst/>
          </a:prstGeom>
          <a:noFill/>
          <a:ln>
            <a:solidFill>
              <a:srgbClr val="505468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2850"/>
              </a:lnSpc>
              <a:buSzPct val="100000"/>
              <a:defRPr sz="1600" b="1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defRPr>
            </a:lvl1pPr>
          </a:lstStyle>
          <a:p>
            <a:r>
              <a:rPr lang="zh-CN" altLang="en-US" dirty="0"/>
              <a:t>conducted a manual review→correcting formatting errors, ignoring incomplete stories, and identifying the causes of errors→</a:t>
            </a:r>
            <a:r>
              <a:rPr lang="en-US" altLang="zh-CN" dirty="0"/>
              <a:t>Integration</a:t>
            </a:r>
            <a:endParaRPr lang="zh-CN" altLang="en-US" dirty="0"/>
          </a:p>
        </p:txBody>
      </p:sp>
      <p:sp>
        <p:nvSpPr>
          <p:cNvPr id="19" name="箭头: 下 18">
            <a:extLst>
              <a:ext uri="{FF2B5EF4-FFF2-40B4-BE49-F238E27FC236}">
                <a16:creationId xmlns:a16="http://schemas.microsoft.com/office/drawing/2014/main" id="{53368C6E-4EC1-F98D-F2A5-266A543A693D}"/>
              </a:ext>
            </a:extLst>
          </p:cNvPr>
          <p:cNvSpPr/>
          <p:nvPr/>
        </p:nvSpPr>
        <p:spPr>
          <a:xfrm>
            <a:off x="6760028" y="6293434"/>
            <a:ext cx="1110343" cy="500742"/>
          </a:xfrm>
          <a:prstGeom prst="downArrow">
            <a:avLst/>
          </a:prstGeom>
          <a:solidFill>
            <a:srgbClr val="5054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61ED0AE-E558-10BC-1A9E-1E657034CCE5}"/>
              </a:ext>
            </a:extLst>
          </p:cNvPr>
          <p:cNvSpPr txBox="1"/>
          <p:nvPr/>
        </p:nvSpPr>
        <p:spPr>
          <a:xfrm>
            <a:off x="793791" y="6978884"/>
            <a:ext cx="13149445" cy="418641"/>
          </a:xfrm>
          <a:prstGeom prst="rect">
            <a:avLst/>
          </a:prstGeom>
          <a:noFill/>
          <a:ln>
            <a:solidFill>
              <a:srgbClr val="505468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2850"/>
              </a:lnSpc>
              <a:buSzPct val="100000"/>
              <a:defRPr sz="1600" b="1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defRPr>
            </a:lvl1pPr>
          </a:lstStyle>
          <a:p>
            <a:r>
              <a:rPr lang="en-US" altLang="zh-CN" b="0" dirty="0"/>
              <a:t>A</a:t>
            </a:r>
            <a:r>
              <a:rPr lang="zh-CN" altLang="en-US" b="0" dirty="0"/>
              <a:t> </a:t>
            </a:r>
            <a:r>
              <a:rPr lang="en-US" altLang="zh-CN" dirty="0"/>
              <a:t>CSV table</a:t>
            </a:r>
            <a:r>
              <a:rPr lang="zh-CN" altLang="en-US" dirty="0"/>
              <a:t>（</a:t>
            </a:r>
            <a:r>
              <a:rPr lang="en-US" altLang="zh-CN" dirty="0"/>
              <a:t>final_dataset_human_vs_ai.csv</a:t>
            </a:r>
            <a:r>
              <a:rPr lang="zh-CN" altLang="en-US" dirty="0"/>
              <a:t>）</a:t>
            </a:r>
            <a:r>
              <a:rPr lang="zh-CN" altLang="en-US" b="0" dirty="0"/>
              <a:t> of </a:t>
            </a:r>
            <a:r>
              <a:rPr lang="zh-CN" altLang="en-US" dirty="0"/>
              <a:t>2000 thematic stories </a:t>
            </a:r>
            <a:r>
              <a:rPr lang="zh-CN" altLang="en-US" b="0" dirty="0"/>
              <a:t>and </a:t>
            </a:r>
            <a:r>
              <a:rPr lang="zh-CN" altLang="en-US" dirty="0"/>
              <a:t>8367 individual stories </a:t>
            </a:r>
            <a:r>
              <a:rPr lang="zh-CN" altLang="en-US" b="0" dirty="0"/>
              <a:t>based on human prompts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92976"/>
            <a:ext cx="435878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Methodology</a:t>
            </a:r>
            <a:endParaRPr lang="en-US" sz="4450" dirty="0"/>
          </a:p>
        </p:txBody>
      </p:sp>
      <p:pic>
        <p:nvPicPr>
          <p:cNvPr id="12" name="图片 11" descr="图示&#10;&#10;AI 生成的内容可能不正确。">
            <a:extLst>
              <a:ext uri="{FF2B5EF4-FFF2-40B4-BE49-F238E27FC236}">
                <a16:creationId xmlns:a16="http://schemas.microsoft.com/office/drawing/2014/main" id="{F7EA99C6-5FDE-BF7A-870B-84793B14B9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5838" y="194734"/>
            <a:ext cx="8370772" cy="7651664"/>
          </a:xfrm>
          <a:prstGeom prst="rect">
            <a:avLst/>
          </a:prstGeom>
        </p:spPr>
      </p:pic>
      <p:sp>
        <p:nvSpPr>
          <p:cNvPr id="13" name="Text 1">
            <a:extLst>
              <a:ext uri="{FF2B5EF4-FFF2-40B4-BE49-F238E27FC236}">
                <a16:creationId xmlns:a16="http://schemas.microsoft.com/office/drawing/2014/main" id="{4D371930-0446-1FED-DCB6-1D0EFE4B7FFA}"/>
              </a:ext>
            </a:extLst>
          </p:cNvPr>
          <p:cNvSpPr/>
          <p:nvPr/>
        </p:nvSpPr>
        <p:spPr>
          <a:xfrm>
            <a:off x="793791" y="2225619"/>
            <a:ext cx="4953866" cy="362903"/>
          </a:xfrm>
          <a:prstGeom prst="rect">
            <a:avLst/>
          </a:prstGeom>
          <a:solidFill>
            <a:srgbClr val="505468"/>
          </a:solidFill>
          <a:ln/>
        </p:spPr>
        <p:txBody>
          <a:bodyPr wrap="none" lIns="0" tIns="0" rIns="0" bIns="0" rtlCol="0" anchor="t"/>
          <a:lstStyle/>
          <a:p>
            <a:pPr algn="ctr">
              <a:lnSpc>
                <a:spcPts val="2850"/>
              </a:lnSpc>
              <a:buSzPct val="100000"/>
            </a:pPr>
            <a:r>
              <a:rPr lang="en-US" sz="1750" b="1" dirty="0">
                <a:solidFill>
                  <a:schemeClr val="bg1"/>
                </a:solidFill>
                <a:latin typeface="Instrument Sans Medium" pitchFamily="34" charset="0"/>
              </a:rPr>
              <a:t>RQ 1</a:t>
            </a:r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3E3720B2-5970-AA3C-077B-754AFCCC0BBF}"/>
              </a:ext>
            </a:extLst>
          </p:cNvPr>
          <p:cNvSpPr/>
          <p:nvPr/>
        </p:nvSpPr>
        <p:spPr>
          <a:xfrm>
            <a:off x="793791" y="2586072"/>
            <a:ext cx="4953866" cy="1025217"/>
          </a:xfrm>
          <a:prstGeom prst="rect">
            <a:avLst/>
          </a:prstGeom>
          <a:noFill/>
          <a:ln>
            <a:solidFill>
              <a:srgbClr val="505468"/>
            </a:solidFill>
          </a:ln>
        </p:spPr>
        <p:txBody>
          <a:bodyPr wrap="square" rtlCol="0">
            <a:spAutoFit/>
          </a:bodyPr>
          <a:lstStyle/>
          <a:p>
            <a:pPr marL="285750" indent="-285750" algn="ctr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TTR</a:t>
            </a:r>
          </a:p>
          <a:p>
            <a:pPr marL="285750" indent="-285750" algn="ctr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Syntactic Complexity - NLTK </a:t>
            </a:r>
            <a:endParaRPr lang="en-US" altLang="zh-CN" sz="1400" dirty="0"/>
          </a:p>
          <a:p>
            <a:pPr marL="285750" indent="-285750" algn="ctr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VADER - Positivity/Violence</a:t>
            </a:r>
            <a:endParaRPr lang="en-US" altLang="zh-CN" sz="1600" dirty="0">
              <a:solidFill>
                <a:srgbClr val="5B5F71"/>
              </a:solidFill>
              <a:latin typeface="Instrument Sans Medium" pitchFamily="34" charset="0"/>
              <a:ea typeface="Instrument Sans Medium" pitchFamily="34" charset="-122"/>
              <a:cs typeface="Instrument Sans Medium" pitchFamily="34" charset="-120"/>
            </a:endParaRPr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B35AF74E-49D9-AE44-16CE-2E110EB11842}"/>
              </a:ext>
            </a:extLst>
          </p:cNvPr>
          <p:cNvSpPr/>
          <p:nvPr/>
        </p:nvSpPr>
        <p:spPr>
          <a:xfrm>
            <a:off x="793791" y="3886226"/>
            <a:ext cx="4953866" cy="362903"/>
          </a:xfrm>
          <a:prstGeom prst="rect">
            <a:avLst/>
          </a:prstGeom>
          <a:solidFill>
            <a:srgbClr val="505468"/>
          </a:solidFill>
          <a:ln/>
        </p:spPr>
        <p:txBody>
          <a:bodyPr wrap="none" lIns="0" tIns="0" rIns="0" bIns="0" rtlCol="0" anchor="t"/>
          <a:lstStyle/>
          <a:p>
            <a:pPr algn="ctr">
              <a:lnSpc>
                <a:spcPts val="2850"/>
              </a:lnSpc>
              <a:buSzPct val="100000"/>
            </a:pPr>
            <a:r>
              <a:rPr lang="en-US" sz="1750" b="1" dirty="0">
                <a:solidFill>
                  <a:schemeClr val="bg1"/>
                </a:solidFill>
                <a:latin typeface="Instrument Sans Medium" pitchFamily="34" charset="0"/>
              </a:rPr>
              <a:t>RQ 2</a:t>
            </a:r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F3A4893A-03EF-E4B0-3AF8-1CEB85886517}"/>
              </a:ext>
            </a:extLst>
          </p:cNvPr>
          <p:cNvSpPr/>
          <p:nvPr/>
        </p:nvSpPr>
        <p:spPr>
          <a:xfrm>
            <a:off x="793791" y="4246679"/>
            <a:ext cx="4953866" cy="1025217"/>
          </a:xfrm>
          <a:prstGeom prst="rect">
            <a:avLst/>
          </a:prstGeom>
          <a:noFill/>
          <a:ln>
            <a:solidFill>
              <a:srgbClr val="505468"/>
            </a:solidFill>
          </a:ln>
        </p:spPr>
        <p:txBody>
          <a:bodyPr wrap="square" rtlCol="0">
            <a:spAutoFit/>
          </a:bodyPr>
          <a:lstStyle/>
          <a:p>
            <a:pPr marL="285750" indent="-285750" algn="ctr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5B5F71"/>
                </a:solidFill>
                <a:latin typeface="Instrument Sans Medium" pitchFamily="34" charset="0"/>
              </a:rPr>
              <a:t>Semantic Adherence - SBERT</a:t>
            </a:r>
          </a:p>
          <a:p>
            <a:pPr marL="285750" indent="-285750" algn="ctr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5B5F71"/>
                </a:solidFill>
                <a:latin typeface="Instrument Sans Medium" pitchFamily="34" charset="0"/>
              </a:rPr>
              <a:t>Topic modeling - </a:t>
            </a:r>
            <a:r>
              <a:rPr lang="en-US" altLang="zh-CN" sz="1400" dirty="0" err="1">
                <a:solidFill>
                  <a:srgbClr val="5B5F71"/>
                </a:solidFill>
                <a:latin typeface="Instrument Sans Medium" pitchFamily="34" charset="0"/>
              </a:rPr>
              <a:t>BERTopic</a:t>
            </a:r>
            <a:endParaRPr lang="en-US" altLang="zh-CN" sz="1400" dirty="0">
              <a:solidFill>
                <a:srgbClr val="5B5F71"/>
              </a:solidFill>
              <a:latin typeface="Instrument Sans Medium" pitchFamily="34" charset="0"/>
            </a:endParaRPr>
          </a:p>
          <a:p>
            <a:pPr marL="285750" indent="-285750" algn="ctr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5B5F71"/>
                </a:solidFill>
                <a:latin typeface="Instrument Sans Medium" pitchFamily="34" charset="0"/>
              </a:rPr>
              <a:t>Cliché Detection - </a:t>
            </a:r>
            <a:r>
              <a:rPr lang="en-US" altLang="zh-CN" sz="1400" dirty="0" err="1">
                <a:solidFill>
                  <a:srgbClr val="5B5F71"/>
                </a:solidFill>
                <a:latin typeface="Instrument Sans Medium" pitchFamily="34" charset="0"/>
              </a:rPr>
              <a:t>CountVec</a:t>
            </a:r>
            <a:endParaRPr lang="en-US" altLang="zh-CN" sz="1400" dirty="0">
              <a:solidFill>
                <a:srgbClr val="5B5F71"/>
              </a:solidFill>
              <a:latin typeface="Instrument Sans Medium" pitchFamily="34" charset="0"/>
            </a:endParaRPr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3A86220F-076E-974D-8C54-A00B2DBD2023}"/>
              </a:ext>
            </a:extLst>
          </p:cNvPr>
          <p:cNvSpPr/>
          <p:nvPr/>
        </p:nvSpPr>
        <p:spPr>
          <a:xfrm>
            <a:off x="793791" y="5632349"/>
            <a:ext cx="4953866" cy="362903"/>
          </a:xfrm>
          <a:prstGeom prst="rect">
            <a:avLst/>
          </a:prstGeom>
          <a:solidFill>
            <a:srgbClr val="505468"/>
          </a:solidFill>
          <a:ln/>
        </p:spPr>
        <p:txBody>
          <a:bodyPr wrap="none" lIns="0" tIns="0" rIns="0" bIns="0" rtlCol="0" anchor="t"/>
          <a:lstStyle/>
          <a:p>
            <a:pPr algn="ctr">
              <a:lnSpc>
                <a:spcPts val="2850"/>
              </a:lnSpc>
              <a:buSzPct val="100000"/>
            </a:pPr>
            <a:r>
              <a:rPr lang="en-US" sz="1750" b="1" dirty="0">
                <a:solidFill>
                  <a:schemeClr val="bg1"/>
                </a:solidFill>
                <a:latin typeface="Instrument Sans Medium" pitchFamily="34" charset="0"/>
              </a:rPr>
              <a:t>RQ 3</a:t>
            </a:r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0D3BA247-7E83-8D1D-D188-EE0F1F212E50}"/>
              </a:ext>
            </a:extLst>
          </p:cNvPr>
          <p:cNvSpPr/>
          <p:nvPr/>
        </p:nvSpPr>
        <p:spPr>
          <a:xfrm>
            <a:off x="793791" y="5992802"/>
            <a:ext cx="4953866" cy="1348382"/>
          </a:xfrm>
          <a:prstGeom prst="rect">
            <a:avLst/>
          </a:prstGeom>
          <a:noFill/>
          <a:ln>
            <a:solidFill>
              <a:srgbClr val="505468"/>
            </a:solidFill>
          </a:ln>
        </p:spPr>
        <p:txBody>
          <a:bodyPr wrap="square" rtlCol="0">
            <a:spAutoFit/>
          </a:bodyPr>
          <a:lstStyle/>
          <a:p>
            <a:pPr marL="285750" indent="-285750" algn="ctr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5B5F71"/>
                </a:solidFill>
                <a:latin typeface="Instrument Sans Medium" pitchFamily="34" charset="0"/>
              </a:rPr>
              <a:t>Train/Test Model</a:t>
            </a:r>
          </a:p>
          <a:p>
            <a:pPr marL="285750" indent="-285750" algn="ctr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5B5F71"/>
                </a:solidFill>
                <a:latin typeface="Instrument Sans Medium" pitchFamily="34" charset="0"/>
              </a:rPr>
              <a:t>TF-IDF vs </a:t>
            </a:r>
            <a:r>
              <a:rPr lang="en-US" altLang="zh-CN" sz="1400" dirty="0" err="1">
                <a:solidFill>
                  <a:srgbClr val="5B5F71"/>
                </a:solidFill>
                <a:latin typeface="Instrument Sans Medium" pitchFamily="34" charset="0"/>
              </a:rPr>
              <a:t>DistilBERT</a:t>
            </a:r>
            <a:endParaRPr lang="en-US" altLang="zh-CN" sz="1400" dirty="0">
              <a:solidFill>
                <a:srgbClr val="5B5F71"/>
              </a:solidFill>
              <a:latin typeface="Instrument Sans Medium" pitchFamily="34" charset="0"/>
            </a:endParaRPr>
          </a:p>
          <a:p>
            <a:pPr marL="285750" indent="-285750" algn="ctr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5B5F71"/>
                </a:solidFill>
                <a:latin typeface="Instrument Sans Medium" pitchFamily="34" charset="0"/>
              </a:rPr>
              <a:t>Emotional Gap</a:t>
            </a:r>
          </a:p>
          <a:p>
            <a:pPr marL="285750" indent="-285750" algn="ctr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5B5F71"/>
                </a:solidFill>
                <a:latin typeface="Instrument Sans Medium" pitchFamily="34" charset="0"/>
              </a:rPr>
              <a:t>Error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13503"/>
            <a:ext cx="847856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Results </a:t>
            </a:r>
            <a:r>
              <a:rPr lang="en-US" altLang="zh-CN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for </a:t>
            </a: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RQ1</a:t>
            </a:r>
            <a:endParaRPr lang="en-US" sz="4450" dirty="0"/>
          </a:p>
        </p:txBody>
      </p:sp>
      <p:pic>
        <p:nvPicPr>
          <p:cNvPr id="11" name="图片 10" descr="图表, 箱线图&#10;&#10;AI 生成的内容可能不正确。">
            <a:extLst>
              <a:ext uri="{FF2B5EF4-FFF2-40B4-BE49-F238E27FC236}">
                <a16:creationId xmlns:a16="http://schemas.microsoft.com/office/drawing/2014/main" id="{9466F734-1FA5-FCC8-7C23-68FCDDAF80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0793"/>
          <a:stretch>
            <a:fillRect/>
          </a:stretch>
        </p:blipFill>
        <p:spPr>
          <a:xfrm>
            <a:off x="5821448" y="950060"/>
            <a:ext cx="8534706" cy="2799765"/>
          </a:xfrm>
          <a:prstGeom prst="rect">
            <a:avLst/>
          </a:prstGeom>
        </p:spPr>
      </p:pic>
      <p:pic>
        <p:nvPicPr>
          <p:cNvPr id="12" name="图片 11" descr="图表, 箱线图&#10;&#10;AI 生成的内容可能不正确。">
            <a:extLst>
              <a:ext uri="{FF2B5EF4-FFF2-40B4-BE49-F238E27FC236}">
                <a16:creationId xmlns:a16="http://schemas.microsoft.com/office/drawing/2014/main" id="{67C58C16-E670-ECDB-41DC-F9B61BFE21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9226" r="31825" b="100"/>
          <a:stretch>
            <a:fillRect/>
          </a:stretch>
        </p:blipFill>
        <p:spPr>
          <a:xfrm>
            <a:off x="8488800" y="4422602"/>
            <a:ext cx="6019200" cy="2982706"/>
          </a:xfrm>
          <a:prstGeom prst="rect">
            <a:avLst/>
          </a:prstGeom>
        </p:spPr>
      </p:pic>
      <p:sp>
        <p:nvSpPr>
          <p:cNvPr id="15" name="Text 1">
            <a:extLst>
              <a:ext uri="{FF2B5EF4-FFF2-40B4-BE49-F238E27FC236}">
                <a16:creationId xmlns:a16="http://schemas.microsoft.com/office/drawing/2014/main" id="{96D6DCDE-D79B-8384-E05A-75DC94FB0B8A}"/>
              </a:ext>
            </a:extLst>
          </p:cNvPr>
          <p:cNvSpPr/>
          <p:nvPr/>
        </p:nvSpPr>
        <p:spPr>
          <a:xfrm>
            <a:off x="793791" y="1870039"/>
            <a:ext cx="4953866" cy="362903"/>
          </a:xfrm>
          <a:prstGeom prst="rect">
            <a:avLst/>
          </a:prstGeom>
          <a:solidFill>
            <a:srgbClr val="505468"/>
          </a:solidFill>
          <a:ln/>
        </p:spPr>
        <p:txBody>
          <a:bodyPr wrap="none" lIns="0" tIns="0" rIns="0" bIns="0" rtlCol="0" anchor="t"/>
          <a:lstStyle/>
          <a:p>
            <a:pPr algn="ctr">
              <a:lnSpc>
                <a:spcPts val="2850"/>
              </a:lnSpc>
              <a:buSzPct val="100000"/>
            </a:pPr>
            <a:r>
              <a:rPr lang="en-US" sz="1750" b="1" dirty="0">
                <a:solidFill>
                  <a:schemeClr val="bg1"/>
                </a:solidFill>
                <a:latin typeface="Instrument Sans Medium" pitchFamily="34" charset="0"/>
              </a:rPr>
              <a:t>Linguistic Features</a:t>
            </a:r>
            <a:r>
              <a:rPr lang="zh-CN" altLang="en-US" sz="1750" b="1" dirty="0">
                <a:solidFill>
                  <a:schemeClr val="bg1"/>
                </a:solidFill>
                <a:latin typeface="Instrument Sans Medium" pitchFamily="34" charset="0"/>
              </a:rPr>
              <a:t>（</a:t>
            </a:r>
            <a:r>
              <a:rPr lang="en-US" altLang="zh-CN" sz="1750" b="1" dirty="0">
                <a:solidFill>
                  <a:schemeClr val="bg1"/>
                </a:solidFill>
                <a:latin typeface="Instrument Sans Medium" pitchFamily="34" charset="0"/>
              </a:rPr>
              <a:t>TTR &amp; </a:t>
            </a:r>
            <a:r>
              <a:rPr lang="en-US" altLang="zh-CN" sz="1750" b="1" dirty="0" err="1">
                <a:solidFill>
                  <a:schemeClr val="bg1"/>
                </a:solidFill>
                <a:latin typeface="Instrument Sans Medium" pitchFamily="34" charset="0"/>
              </a:rPr>
              <a:t>Sent_Len</a:t>
            </a:r>
            <a:r>
              <a:rPr lang="zh-CN" altLang="en-US" sz="1750" b="1" dirty="0">
                <a:solidFill>
                  <a:schemeClr val="bg1"/>
                </a:solidFill>
                <a:latin typeface="Instrument Sans Medium" pitchFamily="34" charset="0"/>
              </a:rPr>
              <a:t>）</a:t>
            </a:r>
            <a:endParaRPr lang="en-US" sz="1750" b="1" dirty="0">
              <a:solidFill>
                <a:schemeClr val="bg1"/>
              </a:solidFill>
              <a:latin typeface="Instrument Sans Medium" pitchFamily="34" charset="0"/>
            </a:endParaRPr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4CCBA172-00EB-1A02-8349-122E7B0F2D2E}"/>
              </a:ext>
            </a:extLst>
          </p:cNvPr>
          <p:cNvSpPr/>
          <p:nvPr/>
        </p:nvSpPr>
        <p:spPr>
          <a:xfrm>
            <a:off x="793791" y="2230492"/>
            <a:ext cx="4953866" cy="1348382"/>
          </a:xfrm>
          <a:prstGeom prst="rect">
            <a:avLst/>
          </a:prstGeom>
          <a:noFill/>
          <a:ln>
            <a:solidFill>
              <a:srgbClr val="505468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Human: </a:t>
            </a:r>
            <a:r>
              <a:rPr lang="en-US" altLang="zh-CN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Higher spontaneity(1.3), more flexible in their use of language.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5B5F71"/>
                </a:solidFill>
                <a:latin typeface="Instrument Sans Medium" pitchFamily="34" charset="0"/>
              </a:rPr>
              <a:t>AI:</a:t>
            </a:r>
            <a:r>
              <a:rPr lang="zh-CN" altLang="en-US" sz="1400" b="1" dirty="0">
                <a:solidFill>
                  <a:srgbClr val="5B5F71"/>
                </a:solidFill>
                <a:latin typeface="Instrument Sans Medium" pitchFamily="34" charset="0"/>
              </a:rPr>
              <a:t> </a:t>
            </a:r>
            <a:r>
              <a:rPr lang="en-US" altLang="zh-CN" sz="1400" dirty="0">
                <a:solidFill>
                  <a:srgbClr val="5B5F71"/>
                </a:solidFill>
                <a:latin typeface="Instrument Sans Medium" pitchFamily="34" charset="0"/>
              </a:rPr>
              <a:t>Preference for readability(0.4-0.8). High lexical diversity(SOTA)  but repetitive sentence structures.</a:t>
            </a:r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BE287429-67CC-C701-F97E-D430B3C354A1}"/>
              </a:ext>
            </a:extLst>
          </p:cNvPr>
          <p:cNvSpPr/>
          <p:nvPr/>
        </p:nvSpPr>
        <p:spPr>
          <a:xfrm>
            <a:off x="793790" y="3876634"/>
            <a:ext cx="7407009" cy="362903"/>
          </a:xfrm>
          <a:prstGeom prst="rect">
            <a:avLst/>
          </a:prstGeom>
          <a:solidFill>
            <a:srgbClr val="505468"/>
          </a:solidFill>
          <a:ln/>
        </p:spPr>
        <p:txBody>
          <a:bodyPr wrap="none" lIns="0" tIns="0" rIns="0" bIns="0" rtlCol="0" anchor="t"/>
          <a:lstStyle/>
          <a:p>
            <a:pPr algn="ctr">
              <a:lnSpc>
                <a:spcPts val="2850"/>
              </a:lnSpc>
              <a:buSzPct val="100000"/>
            </a:pPr>
            <a:r>
              <a:rPr lang="en-US" sz="1750" b="1" dirty="0">
                <a:solidFill>
                  <a:schemeClr val="bg1"/>
                </a:solidFill>
                <a:latin typeface="Instrument Sans Medium" pitchFamily="34" charset="0"/>
              </a:rPr>
              <a:t>Sentiment Analysis (VADER &amp; Joy &amp;Violence)</a:t>
            </a:r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D18D6ECE-7004-D74E-BFC9-98F9F7C91FAE}"/>
              </a:ext>
            </a:extLst>
          </p:cNvPr>
          <p:cNvSpPr/>
          <p:nvPr/>
        </p:nvSpPr>
        <p:spPr>
          <a:xfrm>
            <a:off x="793790" y="4237087"/>
            <a:ext cx="7407010" cy="1022524"/>
          </a:xfrm>
          <a:prstGeom prst="rect">
            <a:avLst/>
          </a:prstGeom>
          <a:noFill/>
          <a:ln>
            <a:solidFill>
              <a:srgbClr val="505468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Human: </a:t>
            </a:r>
            <a:r>
              <a:rPr lang="en-US" altLang="zh-CN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Neutral approach, using negative sentiment as necessary narrative tools for dramatic conflict.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AI</a:t>
            </a:r>
            <a:r>
              <a:rPr lang="zh-CN" altLang="en-US" sz="14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：</a:t>
            </a:r>
            <a:r>
              <a:rPr lang="en-US" altLang="zh-CN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Exhibits extreme "Positive Bias“(Except Gemini)</a:t>
            </a:r>
            <a:endParaRPr lang="en-US" altLang="zh-CN" sz="1400" dirty="0">
              <a:solidFill>
                <a:srgbClr val="5B5F71"/>
              </a:solidFill>
              <a:latin typeface="Instrument Sans Medium" pitchFamily="34" charset="0"/>
            </a:endParaRPr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FAE93272-EEF6-F1F2-1C47-66BA7633FA7D}"/>
              </a:ext>
            </a:extLst>
          </p:cNvPr>
          <p:cNvSpPr/>
          <p:nvPr/>
        </p:nvSpPr>
        <p:spPr>
          <a:xfrm>
            <a:off x="793791" y="5513228"/>
            <a:ext cx="7407008" cy="362903"/>
          </a:xfrm>
          <a:prstGeom prst="rect">
            <a:avLst/>
          </a:prstGeom>
          <a:solidFill>
            <a:srgbClr val="505468"/>
          </a:solidFill>
          <a:ln/>
        </p:spPr>
        <p:txBody>
          <a:bodyPr wrap="none" lIns="0" tIns="0" rIns="0" bIns="0" rtlCol="0" anchor="t"/>
          <a:lstStyle/>
          <a:p>
            <a:pPr algn="ctr">
              <a:lnSpc>
                <a:spcPts val="2850"/>
              </a:lnSpc>
              <a:buSzPct val="100000"/>
            </a:pPr>
            <a:r>
              <a:rPr lang="en-US" sz="1750" b="1" dirty="0">
                <a:solidFill>
                  <a:schemeClr val="bg1"/>
                </a:solidFill>
                <a:latin typeface="Instrument Sans Medium" pitchFamily="34" charset="0"/>
              </a:rPr>
              <a:t>Alignment Strategy (VADER)</a:t>
            </a:r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DC8C94F6-2B35-9896-3DCD-8C0EC96C9B9B}"/>
              </a:ext>
            </a:extLst>
          </p:cNvPr>
          <p:cNvSpPr/>
          <p:nvPr/>
        </p:nvSpPr>
        <p:spPr>
          <a:xfrm>
            <a:off x="793790" y="5873681"/>
            <a:ext cx="7407009" cy="1994713"/>
          </a:xfrm>
          <a:prstGeom prst="rect">
            <a:avLst/>
          </a:prstGeom>
          <a:noFill/>
          <a:ln>
            <a:solidFill>
              <a:srgbClr val="505468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General AI: </a:t>
            </a:r>
            <a:r>
              <a:rPr lang="en-US" altLang="zh-CN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Emphasizes safety &amp; joy, even if the prompt contains negative words.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altLang="zh-CN" sz="14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Exception (Gemini 2.0 Flash)</a:t>
            </a:r>
            <a:r>
              <a:rPr lang="zh-CN" altLang="en-US" sz="14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：</a:t>
            </a:r>
            <a:r>
              <a:rPr lang="en-US" altLang="zh-CN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Negative bias. Amplifies conflict objectively based on prompts.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5B5F71"/>
                </a:solidFill>
                <a:latin typeface="Instrument Sans Medium" pitchFamily="34" charset="0"/>
              </a:rPr>
              <a:t>E.g. (ID=1963)  </a:t>
            </a:r>
            <a:r>
              <a:rPr lang="en-US" altLang="zh-CN" sz="1400" dirty="0">
                <a:solidFill>
                  <a:srgbClr val="5B5F71"/>
                </a:solidFill>
                <a:latin typeface="Instrument Sans Medium" pitchFamily="34" charset="0"/>
              </a:rPr>
              <a:t>“The world was a symphony of screams... My axe sang a bloody tune... leaving through rotten flesh,” /</a:t>
            </a:r>
            <a:r>
              <a:rPr lang="zh-CN" altLang="en-US" sz="1400" b="1" dirty="0">
                <a:solidFill>
                  <a:srgbClr val="5B5F71"/>
                </a:solidFill>
                <a:latin typeface="Instrument Sans Medium" pitchFamily="34" charset="0"/>
              </a:rPr>
              <a:t>（</a:t>
            </a:r>
            <a:r>
              <a:rPr lang="en-US" altLang="zh-CN" sz="1400" b="1" dirty="0">
                <a:solidFill>
                  <a:srgbClr val="5B5F71"/>
                </a:solidFill>
                <a:latin typeface="Instrument Sans Medium" pitchFamily="34" charset="0"/>
              </a:rPr>
              <a:t> ID=748 </a:t>
            </a:r>
            <a:r>
              <a:rPr lang="zh-CN" altLang="en-US" sz="1400" b="1" dirty="0">
                <a:solidFill>
                  <a:srgbClr val="5B5F71"/>
                </a:solidFill>
                <a:latin typeface="Instrument Sans Medium" pitchFamily="34" charset="0"/>
              </a:rPr>
              <a:t>）</a:t>
            </a:r>
            <a:r>
              <a:rPr lang="en-US" altLang="zh-CN" sz="1400" dirty="0">
                <a:solidFill>
                  <a:srgbClr val="5B5F71"/>
                </a:solidFill>
                <a:latin typeface="Instrument Sans Medium" pitchFamily="34" charset="0"/>
              </a:rPr>
              <a:t> “I hate you. There, I said it... This is a declaration of war,”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13790"/>
            <a:ext cx="895707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Results </a:t>
            </a:r>
            <a:r>
              <a:rPr lang="en-US" altLang="zh-CN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for </a:t>
            </a: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RQ2</a:t>
            </a:r>
            <a:endParaRPr lang="en-US" sz="4450" dirty="0"/>
          </a:p>
        </p:txBody>
      </p:sp>
      <p:pic>
        <p:nvPicPr>
          <p:cNvPr id="10" name="图片 9" descr="图表, 条形图&#10;&#10;AI 生成的内容可能不正确。">
            <a:extLst>
              <a:ext uri="{FF2B5EF4-FFF2-40B4-BE49-F238E27FC236}">
                <a16:creationId xmlns:a16="http://schemas.microsoft.com/office/drawing/2014/main" id="{5ECDA180-EF56-A6B6-5E0D-D089DEA914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2992" y="5522820"/>
            <a:ext cx="3731796" cy="2239078"/>
          </a:xfrm>
          <a:prstGeom prst="rect">
            <a:avLst/>
          </a:prstGeom>
        </p:spPr>
      </p:pic>
      <p:pic>
        <p:nvPicPr>
          <p:cNvPr id="12" name="图片 11" descr="图表, 箱线图&#10;&#10;AI 生成的内容可能不正确。">
            <a:extLst>
              <a:ext uri="{FF2B5EF4-FFF2-40B4-BE49-F238E27FC236}">
                <a16:creationId xmlns:a16="http://schemas.microsoft.com/office/drawing/2014/main" id="{91C589CF-3501-3E2B-7845-12A590A4D7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7657" y="5521290"/>
            <a:ext cx="4587142" cy="2293571"/>
          </a:xfrm>
          <a:prstGeom prst="rect">
            <a:avLst/>
          </a:prstGeom>
        </p:spPr>
      </p:pic>
      <p:pic>
        <p:nvPicPr>
          <p:cNvPr id="14" name="图片 13" descr="图表, 条形图&#10;&#10;AI 生成的内容可能不正确。">
            <a:extLst>
              <a:ext uri="{FF2B5EF4-FFF2-40B4-BE49-F238E27FC236}">
                <a16:creationId xmlns:a16="http://schemas.microsoft.com/office/drawing/2014/main" id="{ABF345ED-D71C-0B1A-6F28-E319B8122C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5305" y="517889"/>
            <a:ext cx="7793918" cy="4768290"/>
          </a:xfrm>
          <a:prstGeom prst="rect">
            <a:avLst/>
          </a:prstGeom>
        </p:spPr>
      </p:pic>
      <p:sp>
        <p:nvSpPr>
          <p:cNvPr id="15" name="Text 1">
            <a:extLst>
              <a:ext uri="{FF2B5EF4-FFF2-40B4-BE49-F238E27FC236}">
                <a16:creationId xmlns:a16="http://schemas.microsoft.com/office/drawing/2014/main" id="{49CED8EB-BFD6-D19A-1F53-5449E095FD39}"/>
              </a:ext>
            </a:extLst>
          </p:cNvPr>
          <p:cNvSpPr/>
          <p:nvPr/>
        </p:nvSpPr>
        <p:spPr>
          <a:xfrm>
            <a:off x="793791" y="1870039"/>
            <a:ext cx="4953866" cy="362903"/>
          </a:xfrm>
          <a:prstGeom prst="rect">
            <a:avLst/>
          </a:prstGeom>
          <a:solidFill>
            <a:srgbClr val="505468"/>
          </a:solidFill>
          <a:ln/>
        </p:spPr>
        <p:txBody>
          <a:bodyPr wrap="none" lIns="0" tIns="0" rIns="0" bIns="0" rtlCol="0" anchor="t"/>
          <a:lstStyle/>
          <a:p>
            <a:pPr algn="ctr">
              <a:lnSpc>
                <a:spcPts val="2850"/>
              </a:lnSpc>
              <a:buSzPct val="100000"/>
            </a:pPr>
            <a:r>
              <a:rPr lang="en-US" sz="1750" b="1" dirty="0">
                <a:solidFill>
                  <a:schemeClr val="bg1"/>
                </a:solidFill>
                <a:latin typeface="Instrument Sans Medium" pitchFamily="34" charset="0"/>
              </a:rPr>
              <a:t>Semantic Adherence</a:t>
            </a:r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6ECBC412-1C5C-475B-8193-EA577660CBBB}"/>
              </a:ext>
            </a:extLst>
          </p:cNvPr>
          <p:cNvSpPr/>
          <p:nvPr/>
        </p:nvSpPr>
        <p:spPr>
          <a:xfrm>
            <a:off x="793791" y="2230492"/>
            <a:ext cx="4953866" cy="1348382"/>
          </a:xfrm>
          <a:prstGeom prst="rect">
            <a:avLst/>
          </a:prstGeom>
          <a:noFill/>
          <a:ln>
            <a:solidFill>
              <a:srgbClr val="505468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Human: </a:t>
            </a:r>
            <a:r>
              <a:rPr lang="en-US" altLang="zh-CN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Low Cosine Similarity (~0.3),</a:t>
            </a:r>
            <a:r>
              <a:rPr lang="zh-CN" alt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altLang="zh-CN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favoring creativity over strict relevance.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5B5F71"/>
                </a:solidFill>
                <a:latin typeface="Instrument Sans Medium" pitchFamily="34" charset="0"/>
              </a:rPr>
              <a:t>AI:</a:t>
            </a:r>
            <a:r>
              <a:rPr lang="zh-CN" altLang="en-US" sz="1400" b="1" dirty="0">
                <a:solidFill>
                  <a:srgbClr val="5B5F71"/>
                </a:solidFill>
                <a:latin typeface="Instrument Sans Medium" pitchFamily="34" charset="0"/>
              </a:rPr>
              <a:t>  </a:t>
            </a:r>
            <a:r>
              <a:rPr lang="en-US" altLang="zh-CN" sz="1400" dirty="0">
                <a:solidFill>
                  <a:srgbClr val="5B5F71"/>
                </a:solidFill>
                <a:latin typeface="Instrument Sans Medium" pitchFamily="34" charset="0"/>
              </a:rPr>
              <a:t>High Cosine Similarity (&gt;0.45). Strictly adheres to literal constraints ("Obedient").</a:t>
            </a:r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D653F94D-89EC-AFF5-97D9-4EE0F1DAB355}"/>
              </a:ext>
            </a:extLst>
          </p:cNvPr>
          <p:cNvSpPr/>
          <p:nvPr/>
        </p:nvSpPr>
        <p:spPr>
          <a:xfrm>
            <a:off x="793791" y="3813985"/>
            <a:ext cx="4953866" cy="362903"/>
          </a:xfrm>
          <a:prstGeom prst="rect">
            <a:avLst/>
          </a:prstGeom>
          <a:solidFill>
            <a:srgbClr val="505468"/>
          </a:solidFill>
          <a:ln/>
        </p:spPr>
        <p:txBody>
          <a:bodyPr wrap="none" lIns="0" tIns="0" rIns="0" bIns="0" rtlCol="0" anchor="t"/>
          <a:lstStyle/>
          <a:p>
            <a:pPr algn="ctr">
              <a:lnSpc>
                <a:spcPts val="2850"/>
              </a:lnSpc>
              <a:buSzPct val="100000"/>
            </a:pPr>
            <a:r>
              <a:rPr lang="en-US" sz="1750" b="1" dirty="0">
                <a:solidFill>
                  <a:schemeClr val="bg1"/>
                </a:solidFill>
                <a:latin typeface="Instrument Sans Medium" pitchFamily="34" charset="0"/>
              </a:rPr>
              <a:t>Topic Distribution</a:t>
            </a:r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4B61B88B-89B4-F6DD-91A0-65FC7BFEF865}"/>
              </a:ext>
            </a:extLst>
          </p:cNvPr>
          <p:cNvSpPr/>
          <p:nvPr/>
        </p:nvSpPr>
        <p:spPr>
          <a:xfrm>
            <a:off x="793791" y="4174438"/>
            <a:ext cx="4953866" cy="1025217"/>
          </a:xfrm>
          <a:prstGeom prst="rect">
            <a:avLst/>
          </a:prstGeom>
          <a:noFill/>
          <a:ln>
            <a:solidFill>
              <a:srgbClr val="505468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Human: </a:t>
            </a:r>
            <a:r>
              <a:rPr lang="en-US" altLang="zh-CN" sz="1400" dirty="0">
                <a:solidFill>
                  <a:srgbClr val="5B5F71"/>
                </a:solidFill>
                <a:latin typeface="Instrument Sans Medium" pitchFamily="34" charset="0"/>
              </a:rPr>
              <a:t>"Interpersonal Drama“ - emotional realism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5B5F71"/>
                </a:solidFill>
                <a:latin typeface="Instrument Sans Medium" pitchFamily="34" charset="0"/>
              </a:rPr>
              <a:t>AI:</a:t>
            </a:r>
            <a:r>
              <a:rPr lang="zh-CN" altLang="en-US" sz="1400" b="1" dirty="0">
                <a:solidFill>
                  <a:srgbClr val="5B5F71"/>
                </a:solidFill>
                <a:latin typeface="Instrument Sans Medium" pitchFamily="34" charset="0"/>
              </a:rPr>
              <a:t>  </a:t>
            </a:r>
            <a:r>
              <a:rPr lang="en-US" altLang="zh-CN" sz="1400" dirty="0">
                <a:solidFill>
                  <a:srgbClr val="5B5F71"/>
                </a:solidFill>
                <a:latin typeface="Instrument Sans Medium" pitchFamily="34" charset="0"/>
              </a:rPr>
              <a:t>“AI Artifact,” “Sci-Fi/Space Opera,” and “High Fantasy ” - non-realism</a:t>
            </a:r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AF971C16-85FD-65EC-16B6-1621AA8CF9A6}"/>
              </a:ext>
            </a:extLst>
          </p:cNvPr>
          <p:cNvSpPr/>
          <p:nvPr/>
        </p:nvSpPr>
        <p:spPr>
          <a:xfrm>
            <a:off x="793791" y="5522820"/>
            <a:ext cx="4953866" cy="362903"/>
          </a:xfrm>
          <a:prstGeom prst="rect">
            <a:avLst/>
          </a:prstGeom>
          <a:solidFill>
            <a:srgbClr val="505468"/>
          </a:solidFill>
          <a:ln/>
        </p:spPr>
        <p:txBody>
          <a:bodyPr wrap="none" lIns="0" tIns="0" rIns="0" bIns="0" rtlCol="0" anchor="t"/>
          <a:lstStyle/>
          <a:p>
            <a:pPr algn="ctr">
              <a:lnSpc>
                <a:spcPts val="2850"/>
              </a:lnSpc>
              <a:buSzPct val="100000"/>
            </a:pPr>
            <a:r>
              <a:rPr lang="en-US" sz="1750" b="1" dirty="0">
                <a:solidFill>
                  <a:schemeClr val="bg1"/>
                </a:solidFill>
                <a:latin typeface="Instrument Sans Medium" pitchFamily="34" charset="0"/>
              </a:rPr>
              <a:t>Underlying Strategy – </a:t>
            </a:r>
            <a:r>
              <a:rPr lang="en-US" altLang="zh-CN" sz="1750" b="1" dirty="0">
                <a:solidFill>
                  <a:schemeClr val="bg1"/>
                </a:solidFill>
                <a:latin typeface="Instrument Sans Medium" pitchFamily="34" charset="0"/>
              </a:rPr>
              <a:t>Thematic Consequence</a:t>
            </a:r>
            <a:r>
              <a:rPr lang="en-US" sz="1750" b="1" dirty="0">
                <a:solidFill>
                  <a:schemeClr val="bg1"/>
                </a:solidFill>
                <a:latin typeface="Instrument Sans Medium" pitchFamily="34" charset="0"/>
              </a:rPr>
              <a:t> </a:t>
            </a:r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71821C42-5DBA-1A03-179C-0351CA3B89F6}"/>
              </a:ext>
            </a:extLst>
          </p:cNvPr>
          <p:cNvSpPr/>
          <p:nvPr/>
        </p:nvSpPr>
        <p:spPr>
          <a:xfrm>
            <a:off x="793791" y="5883273"/>
            <a:ext cx="4953866" cy="1671548"/>
          </a:xfrm>
          <a:prstGeom prst="rect">
            <a:avLst/>
          </a:prstGeom>
          <a:noFill/>
          <a:ln>
            <a:solidFill>
              <a:srgbClr val="505468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5B5F71"/>
                </a:solidFill>
                <a:latin typeface="Instrument Sans Medium" pitchFamily="34" charset="0"/>
              </a:rPr>
              <a:t>Inverse relationship between AI authorship and negative sentiment density.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5B5F71"/>
                </a:solidFill>
                <a:latin typeface="Instrument Sans Medium" pitchFamily="34" charset="0"/>
              </a:rPr>
              <a:t>AI's preference for science fiction themes is a strategy to </a:t>
            </a:r>
            <a:r>
              <a:rPr lang="en-US" altLang="zh-CN" sz="1400" b="1" dirty="0">
                <a:solidFill>
                  <a:srgbClr val="5B5F71"/>
                </a:solidFill>
                <a:latin typeface="Instrument Sans Medium" pitchFamily="34" charset="0"/>
              </a:rPr>
              <a:t>minimize conflict </a:t>
            </a:r>
            <a:r>
              <a:rPr lang="en-US" altLang="zh-CN" sz="1400" dirty="0">
                <a:solidFill>
                  <a:srgbClr val="5B5F71"/>
                </a:solidFill>
                <a:latin typeface="Instrument Sans Medium" pitchFamily="34" charset="0"/>
              </a:rPr>
              <a:t>and thus avoid </a:t>
            </a:r>
            <a:r>
              <a:rPr lang="en-US" altLang="zh-CN" sz="1400" b="1" dirty="0">
                <a:solidFill>
                  <a:srgbClr val="5B5F71"/>
                </a:solidFill>
                <a:latin typeface="Instrument Sans Medium" pitchFamily="34" charset="0"/>
              </a:rPr>
              <a:t>the risks of harmful content associated with realism</a:t>
            </a:r>
            <a:r>
              <a:rPr lang="en-US" altLang="zh-CN" sz="1400" dirty="0">
                <a:solidFill>
                  <a:srgbClr val="5B5F71"/>
                </a:solidFill>
                <a:latin typeface="Instrument Sans Medium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99D63-6EA5-BB25-1F98-BB75D89EF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57FC926-088D-3170-C016-6FC7A4962BEC}"/>
              </a:ext>
            </a:extLst>
          </p:cNvPr>
          <p:cNvSpPr/>
          <p:nvPr/>
        </p:nvSpPr>
        <p:spPr>
          <a:xfrm>
            <a:off x="793790" y="813790"/>
            <a:ext cx="895707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Results </a:t>
            </a:r>
            <a:r>
              <a:rPr lang="en-US" altLang="zh-CN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for </a:t>
            </a: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RQ3</a:t>
            </a:r>
            <a:endParaRPr lang="en-US" sz="4450" dirty="0"/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6F4185D1-7A06-189D-D5DA-ABE57688515A}"/>
              </a:ext>
            </a:extLst>
          </p:cNvPr>
          <p:cNvSpPr/>
          <p:nvPr/>
        </p:nvSpPr>
        <p:spPr>
          <a:xfrm>
            <a:off x="793791" y="1870039"/>
            <a:ext cx="4953866" cy="362903"/>
          </a:xfrm>
          <a:prstGeom prst="rect">
            <a:avLst/>
          </a:prstGeom>
          <a:solidFill>
            <a:srgbClr val="505468"/>
          </a:solidFill>
          <a:ln/>
        </p:spPr>
        <p:txBody>
          <a:bodyPr wrap="none" lIns="0" tIns="0" rIns="0" bIns="0" rtlCol="0" anchor="t"/>
          <a:lstStyle/>
          <a:p>
            <a:pPr algn="ctr">
              <a:lnSpc>
                <a:spcPts val="2850"/>
              </a:lnSpc>
              <a:buSzPct val="100000"/>
            </a:pPr>
            <a:r>
              <a:rPr lang="en-US" sz="1750" b="1" dirty="0">
                <a:solidFill>
                  <a:schemeClr val="bg1"/>
                </a:solidFill>
                <a:latin typeface="Instrument Sans Medium" pitchFamily="34" charset="0"/>
              </a:rPr>
              <a:t>Performance Divergence</a:t>
            </a:r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3DEC29B0-89B6-E51F-DF2F-2AE1121D8A03}"/>
              </a:ext>
            </a:extLst>
          </p:cNvPr>
          <p:cNvSpPr/>
          <p:nvPr/>
        </p:nvSpPr>
        <p:spPr>
          <a:xfrm>
            <a:off x="793791" y="2230492"/>
            <a:ext cx="4953866" cy="1671548"/>
          </a:xfrm>
          <a:prstGeom prst="rect">
            <a:avLst/>
          </a:prstGeom>
          <a:noFill/>
          <a:ln>
            <a:solidFill>
              <a:srgbClr val="505468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TF-IDF Failure: </a:t>
            </a:r>
            <a:r>
              <a:rPr lang="en-US" altLang="zh-CN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SOTA models expand vocabulary, erasing specific </a:t>
            </a:r>
            <a:r>
              <a:rPr lang="en-US" altLang="zh-CN" sz="14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keyword fingerprints / </a:t>
            </a:r>
            <a:r>
              <a:rPr lang="en-US" altLang="zh-CN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High TTR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zh-CN" sz="1400" b="1" dirty="0" err="1">
                <a:solidFill>
                  <a:srgbClr val="5B5F71"/>
                </a:solidFill>
                <a:latin typeface="Instrument Sans Medium" pitchFamily="34" charset="0"/>
              </a:rPr>
              <a:t>DistilBERT</a:t>
            </a:r>
            <a:r>
              <a:rPr lang="en-US" altLang="zh-CN" sz="1400" b="1" dirty="0">
                <a:solidFill>
                  <a:srgbClr val="5B5F71"/>
                </a:solidFill>
                <a:latin typeface="Instrument Sans Medium" pitchFamily="34" charset="0"/>
              </a:rPr>
              <a:t> Robustness: </a:t>
            </a:r>
            <a:r>
              <a:rPr lang="en-US" altLang="zh-CN" sz="1400" dirty="0">
                <a:solidFill>
                  <a:srgbClr val="5B5F71"/>
                </a:solidFill>
                <a:latin typeface="Instrument Sans Medium" pitchFamily="34" charset="0"/>
              </a:rPr>
              <a:t>High accuracy. While vocabulary shifts, differences in </a:t>
            </a:r>
            <a:r>
              <a:rPr lang="en-US" altLang="zh-CN" sz="1400" b="1" dirty="0">
                <a:solidFill>
                  <a:srgbClr val="5B5F71"/>
                </a:solidFill>
                <a:latin typeface="Instrument Sans Medium" pitchFamily="34" charset="0"/>
              </a:rPr>
              <a:t>deep semantic structure</a:t>
            </a:r>
            <a:r>
              <a:rPr lang="en-US" altLang="zh-CN" sz="1400" dirty="0">
                <a:solidFill>
                  <a:srgbClr val="5B5F71"/>
                </a:solidFill>
                <a:latin typeface="Instrument Sans Medium" pitchFamily="34" charset="0"/>
              </a:rPr>
              <a:t> can still be detected.</a:t>
            </a:r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348A6049-0024-D615-42F6-58357A18440B}"/>
              </a:ext>
            </a:extLst>
          </p:cNvPr>
          <p:cNvSpPr/>
          <p:nvPr/>
        </p:nvSpPr>
        <p:spPr>
          <a:xfrm>
            <a:off x="793791" y="4406820"/>
            <a:ext cx="4953866" cy="362903"/>
          </a:xfrm>
          <a:prstGeom prst="rect">
            <a:avLst/>
          </a:prstGeom>
          <a:solidFill>
            <a:srgbClr val="505468"/>
          </a:solidFill>
          <a:ln/>
        </p:spPr>
        <p:txBody>
          <a:bodyPr wrap="none" lIns="0" tIns="0" rIns="0" bIns="0" rtlCol="0" anchor="t"/>
          <a:lstStyle/>
          <a:p>
            <a:pPr algn="ctr">
              <a:lnSpc>
                <a:spcPts val="2850"/>
              </a:lnSpc>
              <a:buSzPct val="100000"/>
            </a:pPr>
            <a:r>
              <a:rPr lang="en-US" sz="1750" b="1" dirty="0">
                <a:solidFill>
                  <a:schemeClr val="bg1"/>
                </a:solidFill>
                <a:latin typeface="Instrument Sans Medium" pitchFamily="34" charset="0"/>
              </a:rPr>
              <a:t>Analyze "Hidden AI"</a:t>
            </a:r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5A18880F-82C9-1B3E-F68C-5EF09925BAA7}"/>
              </a:ext>
            </a:extLst>
          </p:cNvPr>
          <p:cNvSpPr/>
          <p:nvPr/>
        </p:nvSpPr>
        <p:spPr>
          <a:xfrm>
            <a:off x="793791" y="4767273"/>
            <a:ext cx="4953866" cy="1671548"/>
          </a:xfrm>
          <a:prstGeom prst="rect">
            <a:avLst/>
          </a:prstGeom>
          <a:noFill/>
          <a:ln>
            <a:solidFill>
              <a:srgbClr val="505468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5B5F71"/>
                </a:solidFill>
                <a:latin typeface="Instrument Sans Medium" pitchFamily="34" charset="0"/>
              </a:rPr>
              <a:t>"Hidden AI" Group: </a:t>
            </a:r>
            <a:r>
              <a:rPr lang="en-US" altLang="zh-CN" sz="1400" dirty="0">
                <a:solidFill>
                  <a:srgbClr val="5B5F71"/>
                </a:solidFill>
                <a:latin typeface="Instrument Sans Medium" pitchFamily="34" charset="0"/>
              </a:rPr>
              <a:t>AI narratives that fooled TF-IDF still exhibit high neutrality/positivity (Score ~0.00).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5B5F71"/>
                </a:solidFill>
                <a:latin typeface="Instrument Sans Medium" pitchFamily="34" charset="0"/>
              </a:rPr>
              <a:t>AI's preference for science fiction themes is a strategy to </a:t>
            </a:r>
            <a:r>
              <a:rPr lang="en-US" altLang="zh-CN" sz="1400" b="1" dirty="0">
                <a:solidFill>
                  <a:srgbClr val="5B5F71"/>
                </a:solidFill>
                <a:latin typeface="Instrument Sans Medium" pitchFamily="34" charset="0"/>
              </a:rPr>
              <a:t>minimize conflict </a:t>
            </a:r>
            <a:r>
              <a:rPr lang="en-US" altLang="zh-CN" sz="1400" dirty="0">
                <a:solidFill>
                  <a:srgbClr val="5B5F71"/>
                </a:solidFill>
                <a:latin typeface="Instrument Sans Medium" pitchFamily="34" charset="0"/>
              </a:rPr>
              <a:t>and thus avoid </a:t>
            </a:r>
            <a:r>
              <a:rPr lang="en-US" altLang="zh-CN" sz="1400" b="1" dirty="0">
                <a:solidFill>
                  <a:srgbClr val="5B5F71"/>
                </a:solidFill>
                <a:latin typeface="Instrument Sans Medium" pitchFamily="34" charset="0"/>
              </a:rPr>
              <a:t>the risks of harmful content associated with realism</a:t>
            </a:r>
            <a:r>
              <a:rPr lang="en-US" altLang="zh-CN" sz="1400" dirty="0">
                <a:solidFill>
                  <a:srgbClr val="5B5F71"/>
                </a:solidFill>
                <a:latin typeface="Instrument Sans Medium" pitchFamily="34" charset="0"/>
              </a:rPr>
              <a:t>.</a:t>
            </a:r>
          </a:p>
        </p:txBody>
      </p:sp>
      <p:pic>
        <p:nvPicPr>
          <p:cNvPr id="4" name="图片 3" descr="图表, 箱线图&#10;&#10;AI 生成的内容可能不正确。">
            <a:extLst>
              <a:ext uri="{FF2B5EF4-FFF2-40B4-BE49-F238E27FC236}">
                <a16:creationId xmlns:a16="http://schemas.microsoft.com/office/drawing/2014/main" id="{114B2B37-E537-463F-0A97-D1E9EC04A4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052" y="4961570"/>
            <a:ext cx="7119900" cy="3051386"/>
          </a:xfrm>
          <a:prstGeom prst="rect">
            <a:avLst/>
          </a:prstGeom>
        </p:spPr>
      </p:pic>
      <p:pic>
        <p:nvPicPr>
          <p:cNvPr id="6" name="图片 5" descr="图表, 树状图&#10;&#10;AI 生成的内容可能不正确。">
            <a:extLst>
              <a:ext uri="{FF2B5EF4-FFF2-40B4-BE49-F238E27FC236}">
                <a16:creationId xmlns:a16="http://schemas.microsoft.com/office/drawing/2014/main" id="{D9350B4E-2E6B-C980-1020-CB6D5BD4BC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6000" y="3063587"/>
            <a:ext cx="4132690" cy="1771153"/>
          </a:xfrm>
          <a:prstGeom prst="rect">
            <a:avLst/>
          </a:prstGeom>
        </p:spPr>
      </p:pic>
      <p:pic>
        <p:nvPicPr>
          <p:cNvPr id="8" name="图片 7" descr="图表, 树状图&#10;&#10;AI 生成的内容可能不正确。">
            <a:extLst>
              <a:ext uri="{FF2B5EF4-FFF2-40B4-BE49-F238E27FC236}">
                <a16:creationId xmlns:a16="http://schemas.microsoft.com/office/drawing/2014/main" id="{E78F3422-0139-6638-DE94-FCE0CFE952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6002" y="984463"/>
            <a:ext cx="4132688" cy="1771152"/>
          </a:xfrm>
          <a:prstGeom prst="rect">
            <a:avLst/>
          </a:prstGeom>
        </p:spPr>
      </p:pic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AFEF7D93-4252-E4E7-E040-412B06E80D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1496438"/>
              </p:ext>
            </p:extLst>
          </p:nvPr>
        </p:nvGraphicFramePr>
        <p:xfrm>
          <a:off x="6228900" y="3771856"/>
          <a:ext cx="3521961" cy="904875"/>
        </p:xfrm>
        <a:graphic>
          <a:graphicData uri="http://schemas.openxmlformats.org/drawingml/2006/table">
            <a:tbl>
              <a:tblPr>
                <a:tableStyleId>{C083E6E3-FA7D-4D7B-A595-EF9225AFEA82}</a:tableStyleId>
              </a:tblPr>
              <a:tblGrid>
                <a:gridCol w="1173987">
                  <a:extLst>
                    <a:ext uri="{9D8B030D-6E8A-4147-A177-3AD203B41FA5}">
                      <a16:colId xmlns:a16="http://schemas.microsoft.com/office/drawing/2014/main" val="53271579"/>
                    </a:ext>
                  </a:extLst>
                </a:gridCol>
                <a:gridCol w="1173987">
                  <a:extLst>
                    <a:ext uri="{9D8B030D-6E8A-4147-A177-3AD203B41FA5}">
                      <a16:colId xmlns:a16="http://schemas.microsoft.com/office/drawing/2014/main" val="1748015128"/>
                    </a:ext>
                  </a:extLst>
                </a:gridCol>
                <a:gridCol w="1173987">
                  <a:extLst>
                    <a:ext uri="{9D8B030D-6E8A-4147-A177-3AD203B41FA5}">
                      <a16:colId xmlns:a16="http://schemas.microsoft.com/office/drawing/2014/main" val="1703351850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Metric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Base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SOTA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13660646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Accuracy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0.984416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0.975422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24827286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Precision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0.981195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0.971831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8526896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Recall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0.998874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0.982906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54419927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F1-Score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0.989955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0.977337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16286529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DE142CAF-DB82-99AE-DBC0-13F7F30C0C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3343526"/>
              </p:ext>
            </p:extLst>
          </p:nvPr>
        </p:nvGraphicFramePr>
        <p:xfrm>
          <a:off x="6228900" y="1742337"/>
          <a:ext cx="3521961" cy="904875"/>
        </p:xfrm>
        <a:graphic>
          <a:graphicData uri="http://schemas.openxmlformats.org/drawingml/2006/table">
            <a:tbl>
              <a:tblPr>
                <a:tableStyleId>{C083E6E3-FA7D-4D7B-A595-EF9225AFEA82}</a:tableStyleId>
              </a:tblPr>
              <a:tblGrid>
                <a:gridCol w="1173987">
                  <a:extLst>
                    <a:ext uri="{9D8B030D-6E8A-4147-A177-3AD203B41FA5}">
                      <a16:colId xmlns:a16="http://schemas.microsoft.com/office/drawing/2014/main" val="1343532108"/>
                    </a:ext>
                  </a:extLst>
                </a:gridCol>
                <a:gridCol w="1173987">
                  <a:extLst>
                    <a:ext uri="{9D8B030D-6E8A-4147-A177-3AD203B41FA5}">
                      <a16:colId xmlns:a16="http://schemas.microsoft.com/office/drawing/2014/main" val="4271727529"/>
                    </a:ext>
                  </a:extLst>
                </a:gridCol>
                <a:gridCol w="1173987">
                  <a:extLst>
                    <a:ext uri="{9D8B030D-6E8A-4147-A177-3AD203B41FA5}">
                      <a16:colId xmlns:a16="http://schemas.microsoft.com/office/drawing/2014/main" val="1480469749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Metric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Base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SOTA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67489678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Accuracy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0.97013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0.866359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9872896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Precision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0.963054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0.87931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80301387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Recall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0.999148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0.871795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05047716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F1-Score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0.980769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0.875536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87296781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32089083-1AEE-1DE3-E886-DDA64DEB3342}"/>
              </a:ext>
            </a:extLst>
          </p:cNvPr>
          <p:cNvSpPr txBox="1"/>
          <p:nvPr/>
        </p:nvSpPr>
        <p:spPr>
          <a:xfrm>
            <a:off x="6228900" y="995033"/>
            <a:ext cx="1583100" cy="5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indent="0">
              <a:lnSpc>
                <a:spcPts val="5550"/>
              </a:lnSpc>
              <a:buNone/>
              <a:defRPr sz="445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defRPr>
            </a:lvl1pPr>
          </a:lstStyle>
          <a:p>
            <a:r>
              <a:rPr lang="en-US" altLang="zh-CN" sz="1800" dirty="0"/>
              <a:t>TF-IDF</a:t>
            </a:r>
            <a:endParaRPr lang="zh-CN" altLang="en-US" sz="18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697C5D1-C632-686A-5AB6-89C210D2870F}"/>
              </a:ext>
            </a:extLst>
          </p:cNvPr>
          <p:cNvSpPr txBox="1"/>
          <p:nvPr/>
        </p:nvSpPr>
        <p:spPr>
          <a:xfrm>
            <a:off x="6228900" y="3067674"/>
            <a:ext cx="1583100" cy="5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indent="0">
              <a:lnSpc>
                <a:spcPts val="5550"/>
              </a:lnSpc>
              <a:buNone/>
              <a:defRPr sz="445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defRPr>
            </a:lvl1pPr>
          </a:lstStyle>
          <a:p>
            <a:r>
              <a:rPr lang="en-US" altLang="zh-CN" sz="1800" dirty="0" err="1"/>
              <a:t>DistilBERT</a:t>
            </a:r>
            <a:endParaRPr lang="zh-CN" altLang="en-US" sz="1800" dirty="0"/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D582446E-9232-5285-9D8B-2510143DBAC8}"/>
              </a:ext>
            </a:extLst>
          </p:cNvPr>
          <p:cNvSpPr/>
          <p:nvPr/>
        </p:nvSpPr>
        <p:spPr>
          <a:xfrm>
            <a:off x="793791" y="6647850"/>
            <a:ext cx="4953866" cy="1348382"/>
          </a:xfrm>
          <a:prstGeom prst="rect">
            <a:avLst/>
          </a:prstGeom>
          <a:noFill/>
          <a:ln>
            <a:solidFill>
              <a:srgbClr val="505468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5B5F71"/>
                </a:solidFill>
                <a:latin typeface="Instrument Sans Medium" pitchFamily="34" charset="0"/>
              </a:rPr>
              <a:t>Conclusion: </a:t>
            </a:r>
            <a:r>
              <a:rPr lang="en-US" altLang="zh-CN" sz="1400" dirty="0">
                <a:solidFill>
                  <a:srgbClr val="5B5F71"/>
                </a:solidFill>
                <a:latin typeface="Instrument Sans Medium" pitchFamily="34" charset="0"/>
              </a:rPr>
              <a:t>SOTA models have achieved "Lexical Camouflage" but failed with "Emotional Gap." The "Safe/Less Conflict" remains the most distinct feature of AI.</a:t>
            </a:r>
          </a:p>
        </p:txBody>
      </p:sp>
    </p:spTree>
    <p:extLst>
      <p:ext uri="{BB962C8B-B14F-4D97-AF65-F5344CB8AC3E}">
        <p14:creationId xmlns:p14="http://schemas.microsoft.com/office/powerpoint/2010/main" val="2010769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81587"/>
            <a:ext cx="617386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altLang="zh-CN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Conclusion, </a:t>
            </a: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Discussion &amp; </a:t>
            </a:r>
            <a:r>
              <a:rPr lang="en-US" altLang="zh-CN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Limitations</a:t>
            </a:r>
            <a:endParaRPr lang="en-US" altLang="zh-CN" sz="4450" dirty="0"/>
          </a:p>
          <a:p>
            <a:pPr marL="0" indent="0" algn="l">
              <a:lnSpc>
                <a:spcPts val="5550"/>
              </a:lnSpc>
              <a:buNone/>
            </a:pPr>
            <a:endParaRPr lang="en-US" sz="445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2259851D-E9C6-ED87-39D2-C2A63E228CAC}"/>
              </a:ext>
            </a:extLst>
          </p:cNvPr>
          <p:cNvSpPr/>
          <p:nvPr/>
        </p:nvSpPr>
        <p:spPr>
          <a:xfrm>
            <a:off x="793791" y="2215639"/>
            <a:ext cx="6067809" cy="362903"/>
          </a:xfrm>
          <a:prstGeom prst="rect">
            <a:avLst/>
          </a:prstGeom>
          <a:solidFill>
            <a:srgbClr val="505468"/>
          </a:solidFill>
          <a:ln/>
        </p:spPr>
        <p:txBody>
          <a:bodyPr wrap="none" lIns="0" tIns="0" rIns="0" bIns="0" rtlCol="0" anchor="t"/>
          <a:lstStyle/>
          <a:p>
            <a:pPr algn="ctr">
              <a:lnSpc>
                <a:spcPts val="2850"/>
              </a:lnSpc>
              <a:buSzPct val="100000"/>
            </a:pPr>
            <a:r>
              <a:rPr lang="en-US" sz="1750" b="1" dirty="0">
                <a:solidFill>
                  <a:schemeClr val="bg1"/>
                </a:solidFill>
                <a:latin typeface="Instrument Sans Medium" pitchFamily="34" charset="0"/>
              </a:rPr>
              <a:t>Problems With AI-generated Content</a:t>
            </a: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00354EEF-09FE-BBC9-5CD5-9267C89BE08A}"/>
              </a:ext>
            </a:extLst>
          </p:cNvPr>
          <p:cNvSpPr/>
          <p:nvPr/>
        </p:nvSpPr>
        <p:spPr>
          <a:xfrm>
            <a:off x="793791" y="2576092"/>
            <a:ext cx="6067809" cy="1348382"/>
          </a:xfrm>
          <a:prstGeom prst="rect">
            <a:avLst/>
          </a:prstGeom>
          <a:noFill/>
          <a:ln>
            <a:solidFill>
              <a:srgbClr val="505468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AI sacrifices literary merit for safety. It smooths out the "rough edges" of conflict and pain, resulting in narratives that are structurally smooth but emotionally "unconvincing" and lacking human texture.</a:t>
            </a:r>
            <a:endParaRPr lang="en-US" altLang="zh-CN" sz="1400" dirty="0">
              <a:solidFill>
                <a:srgbClr val="5B5F71"/>
              </a:solidFill>
              <a:latin typeface="Instrument Sans Medium" pitchFamily="34" charset="0"/>
            </a:endParaRPr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3FC38BC1-7E83-C646-E6EB-217635DA1D33}"/>
              </a:ext>
            </a:extLst>
          </p:cNvPr>
          <p:cNvSpPr/>
          <p:nvPr/>
        </p:nvSpPr>
        <p:spPr>
          <a:xfrm>
            <a:off x="793791" y="4140763"/>
            <a:ext cx="6067809" cy="362903"/>
          </a:xfrm>
          <a:prstGeom prst="rect">
            <a:avLst/>
          </a:prstGeom>
          <a:solidFill>
            <a:srgbClr val="505468"/>
          </a:solidFill>
          <a:ln/>
        </p:spPr>
        <p:txBody>
          <a:bodyPr wrap="none" lIns="0" tIns="0" rIns="0" bIns="0" rtlCol="0" anchor="t"/>
          <a:lstStyle/>
          <a:p>
            <a:pPr algn="ctr">
              <a:lnSpc>
                <a:spcPts val="2850"/>
              </a:lnSpc>
              <a:buSzPct val="100000"/>
            </a:pPr>
            <a:r>
              <a:rPr lang="en-US" sz="1750" b="1" dirty="0">
                <a:solidFill>
                  <a:schemeClr val="bg1"/>
                </a:solidFill>
                <a:latin typeface="Instrument Sans Medium" pitchFamily="34" charset="0"/>
              </a:rPr>
              <a:t>AI’s Escape Strategy</a:t>
            </a:r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F71EAAD8-DB7B-37D6-3EF9-D744F6C9D768}"/>
              </a:ext>
            </a:extLst>
          </p:cNvPr>
          <p:cNvSpPr/>
          <p:nvPr/>
        </p:nvSpPr>
        <p:spPr>
          <a:xfrm>
            <a:off x="793791" y="4501216"/>
            <a:ext cx="6067809" cy="1348382"/>
          </a:xfrm>
          <a:prstGeom prst="rect">
            <a:avLst/>
          </a:prstGeom>
          <a:noFill/>
          <a:ln>
            <a:solidFill>
              <a:srgbClr val="505468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AI sacrifices literary merit for safety. It smooths out the "rough edges" of conflict and pain, resulting in narratives that are structurally smooth but emotionally "unconvincing" and lacking human texture.</a:t>
            </a:r>
            <a:endParaRPr lang="en-US" altLang="zh-CN" sz="1400" dirty="0">
              <a:solidFill>
                <a:srgbClr val="5B5F71"/>
              </a:solidFill>
              <a:latin typeface="Instrument Sans Medium" pitchFamily="34" charset="0"/>
            </a:endParaRPr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B07B3F49-16D4-283F-5ED5-750604E28F9B}"/>
              </a:ext>
            </a:extLst>
          </p:cNvPr>
          <p:cNvSpPr/>
          <p:nvPr/>
        </p:nvSpPr>
        <p:spPr>
          <a:xfrm>
            <a:off x="793791" y="6068241"/>
            <a:ext cx="6067809" cy="362903"/>
          </a:xfrm>
          <a:prstGeom prst="rect">
            <a:avLst/>
          </a:prstGeom>
          <a:solidFill>
            <a:srgbClr val="505468"/>
          </a:solidFill>
          <a:ln/>
        </p:spPr>
        <p:txBody>
          <a:bodyPr wrap="none" lIns="0" tIns="0" rIns="0" bIns="0" rtlCol="0" anchor="t"/>
          <a:lstStyle/>
          <a:p>
            <a:pPr algn="ctr">
              <a:lnSpc>
                <a:spcPts val="2850"/>
              </a:lnSpc>
              <a:buSzPct val="100000"/>
            </a:pPr>
            <a:r>
              <a:rPr lang="en-US" altLang="zh-CN" sz="1750" b="1" dirty="0">
                <a:solidFill>
                  <a:schemeClr val="bg1"/>
                </a:solidFill>
                <a:latin typeface="Instrument Sans Medium" pitchFamily="34" charset="0"/>
              </a:rPr>
              <a:t>The Future of Detection</a:t>
            </a:r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F9656D42-600D-DC4E-D2CB-C3AF9A132DF2}"/>
              </a:ext>
            </a:extLst>
          </p:cNvPr>
          <p:cNvSpPr/>
          <p:nvPr/>
        </p:nvSpPr>
        <p:spPr>
          <a:xfrm>
            <a:off x="793791" y="6428694"/>
            <a:ext cx="6067809" cy="1348382"/>
          </a:xfrm>
          <a:prstGeom prst="rect">
            <a:avLst/>
          </a:prstGeom>
          <a:noFill/>
          <a:ln>
            <a:solidFill>
              <a:srgbClr val="505468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AI cannot hide its </a:t>
            </a:r>
            <a:r>
              <a:rPr lang="en-US" altLang="zh-CN" sz="14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Semantic Essence</a:t>
            </a:r>
            <a:r>
              <a:rPr lang="en-US" altLang="zh-CN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—stereotypical emotional bias and overly adhering to the theme. Future detection must shift focus from “surface words” to “deep emotional texture</a:t>
            </a:r>
            <a:r>
              <a:rPr lang="zh-CN" alt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”</a:t>
            </a:r>
            <a:r>
              <a:rPr lang="en-US" altLang="zh-CN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and “Topic Relevance”.</a:t>
            </a:r>
            <a:endParaRPr lang="en-US" altLang="zh-CN" sz="1400" dirty="0">
              <a:solidFill>
                <a:srgbClr val="5B5F71"/>
              </a:solidFill>
              <a:latin typeface="Instrument Sans Medium" pitchFamily="34" charset="0"/>
            </a:endParaRPr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66F5719E-095A-AD4C-E81D-A62B3B49B458}"/>
              </a:ext>
            </a:extLst>
          </p:cNvPr>
          <p:cNvSpPr/>
          <p:nvPr/>
        </p:nvSpPr>
        <p:spPr>
          <a:xfrm>
            <a:off x="7568991" y="3419857"/>
            <a:ext cx="6067809" cy="362903"/>
          </a:xfrm>
          <a:prstGeom prst="rect">
            <a:avLst/>
          </a:prstGeom>
          <a:solidFill>
            <a:srgbClr val="505468"/>
          </a:solidFill>
          <a:ln/>
        </p:spPr>
        <p:txBody>
          <a:bodyPr wrap="none" lIns="0" tIns="0" rIns="0" bIns="0" rtlCol="0" anchor="t"/>
          <a:lstStyle/>
          <a:p>
            <a:pPr algn="ctr">
              <a:lnSpc>
                <a:spcPts val="2850"/>
              </a:lnSpc>
              <a:buSzPct val="100000"/>
            </a:pPr>
            <a:r>
              <a:rPr lang="en-US" sz="1750" b="1" dirty="0">
                <a:solidFill>
                  <a:schemeClr val="bg1"/>
                </a:solidFill>
                <a:latin typeface="Instrument Sans Medium" pitchFamily="34" charset="0"/>
              </a:rPr>
              <a:t>Sample Size Constraints</a:t>
            </a:r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A9098739-49D3-2FE9-3AAE-BF3160745251}"/>
              </a:ext>
            </a:extLst>
          </p:cNvPr>
          <p:cNvSpPr/>
          <p:nvPr/>
        </p:nvSpPr>
        <p:spPr>
          <a:xfrm>
            <a:off x="7568991" y="3780310"/>
            <a:ext cx="6067809" cy="1025217"/>
          </a:xfrm>
          <a:prstGeom prst="rect">
            <a:avLst/>
          </a:prstGeom>
          <a:noFill/>
          <a:ln>
            <a:solidFill>
              <a:srgbClr val="505468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Gemini 3 Pro (N=67) :</a:t>
            </a:r>
            <a:r>
              <a:rPr lang="en-US" altLang="zh-CN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limited by the API rate limit, causing 233 of them to generate a 90s timeout during generation, so only N=67 items were generated</a:t>
            </a:r>
            <a:endParaRPr lang="en-US" altLang="zh-CN" sz="1400" dirty="0">
              <a:solidFill>
                <a:srgbClr val="5B5F71"/>
              </a:solidFill>
              <a:latin typeface="Instrument Sans Medium" pitchFamily="34" charset="0"/>
            </a:endParaRPr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359C886B-BB6D-84A9-8E81-70E4754A8183}"/>
              </a:ext>
            </a:extLst>
          </p:cNvPr>
          <p:cNvSpPr/>
          <p:nvPr/>
        </p:nvSpPr>
        <p:spPr>
          <a:xfrm>
            <a:off x="7568991" y="5165980"/>
            <a:ext cx="6067809" cy="362903"/>
          </a:xfrm>
          <a:prstGeom prst="rect">
            <a:avLst/>
          </a:prstGeom>
          <a:solidFill>
            <a:srgbClr val="505468"/>
          </a:solidFill>
          <a:ln/>
        </p:spPr>
        <p:txBody>
          <a:bodyPr wrap="none" lIns="0" tIns="0" rIns="0" bIns="0" rtlCol="0" anchor="t"/>
          <a:lstStyle/>
          <a:p>
            <a:pPr algn="ctr">
              <a:lnSpc>
                <a:spcPts val="2850"/>
              </a:lnSpc>
              <a:buSzPct val="100000"/>
            </a:pPr>
            <a:r>
              <a:rPr lang="en-US" sz="1750" b="1" dirty="0">
                <a:solidFill>
                  <a:schemeClr val="bg1"/>
                </a:solidFill>
                <a:latin typeface="Instrument Sans Medium" pitchFamily="34" charset="0"/>
              </a:rPr>
              <a:t>Inside The Model</a:t>
            </a:r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BD92D923-CD2F-F333-FB6D-F6860DB56E91}"/>
              </a:ext>
            </a:extLst>
          </p:cNvPr>
          <p:cNvSpPr/>
          <p:nvPr/>
        </p:nvSpPr>
        <p:spPr>
          <a:xfrm>
            <a:off x="7568991" y="5526433"/>
            <a:ext cx="6067809" cy="702052"/>
          </a:xfrm>
          <a:prstGeom prst="rect">
            <a:avLst/>
          </a:prstGeom>
          <a:noFill/>
          <a:ln>
            <a:solidFill>
              <a:srgbClr val="505468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 access to internal weights of commercial models; analysis limited to output-only features</a:t>
            </a:r>
            <a:endParaRPr lang="en-US" altLang="zh-CN" sz="1400" dirty="0">
              <a:solidFill>
                <a:srgbClr val="5B5F71"/>
              </a:solidFill>
              <a:latin typeface="Instrument Sans Medium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89" y="2379583"/>
            <a:ext cx="13042822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150"/>
              </a:lnSpc>
              <a:buNone/>
            </a:pPr>
            <a:r>
              <a:rPr lang="en-US" sz="66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Q&amp;A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793789" y="425088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32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Thank you for your listening.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790" y="566844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Tianji Zhou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603134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zhou0805@umd.edu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</TotalTime>
  <Words>1175</Words>
  <Application>Microsoft Office PowerPoint</Application>
  <PresentationFormat>自定义</PresentationFormat>
  <Paragraphs>155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Arial</vt:lpstr>
      <vt:lpstr>等线</vt:lpstr>
      <vt:lpstr>Instrument Sans Semi Bold</vt:lpstr>
      <vt:lpstr>Instrument Sans Medium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Tianji Zhou</cp:lastModifiedBy>
  <cp:revision>8</cp:revision>
  <dcterms:created xsi:type="dcterms:W3CDTF">2025-12-10T23:16:12Z</dcterms:created>
  <dcterms:modified xsi:type="dcterms:W3CDTF">2025-12-11T17:33:38Z</dcterms:modified>
</cp:coreProperties>
</file>